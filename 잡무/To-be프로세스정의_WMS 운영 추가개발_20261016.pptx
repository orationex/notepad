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 autoCompressPictures="0">
  <p:sldMasterIdLst>
    <p:sldMasterId id="2147486168" r:id="rId1"/>
  </p:sldMasterIdLst>
  <p:notesMasterIdLst>
    <p:notesMasterId r:id="rId7"/>
  </p:notesMasterIdLst>
  <p:sldIdLst>
    <p:sldId id="1991018329" r:id="rId2"/>
    <p:sldId id="1991018642" r:id="rId3"/>
    <p:sldId id="1991018643" r:id="rId4"/>
    <p:sldId id="1991018450" r:id="rId5"/>
    <p:sldId id="1991018425" r:id="rId6"/>
  </p:sldIdLst>
  <p:sldSz cx="9906000" cy="6858000" type="A4"/>
  <p:notesSz cx="6735763" cy="9866313"/>
  <p:embeddedFontLst>
    <p:embeddedFont>
      <p:font typeface="맑은 고딕" panose="020B0503020000020004" pitchFamily="34" charset="-127"/>
      <p:regular r:id="rId8"/>
      <p:bold r:id="rId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템플릿" id="{82AB5A9F-12CC-492E-9F1F-71B4E720BDB5}">
          <p14:sldIdLst>
            <p14:sldId id="1991018329"/>
            <p14:sldId id="1991018642"/>
            <p14:sldId id="1991018643"/>
            <p14:sldId id="1991018450"/>
            <p14:sldId id="1991018425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152">
          <p15:clr>
            <a:srgbClr val="A4A3A4"/>
          </p15:clr>
        </p15:guide>
        <p15:guide id="4" pos="3112">
          <p15:clr>
            <a:srgbClr val="A4A3A4"/>
          </p15:clr>
        </p15:guide>
        <p15:guide id="5" orient="horz" pos="859" userDrawn="1">
          <p15:clr>
            <a:srgbClr val="A4A3A4"/>
          </p15:clr>
        </p15:guide>
        <p15:guide id="6" orient="horz" pos="13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A003BCA-7B4B-6315-C6E4-E81BC49850E7}" name="Joe Jeong" initials="JJ" userId="32b553bac2aed22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6DADF"/>
    <a:srgbClr val="898989"/>
    <a:srgbClr val="548235"/>
    <a:srgbClr val="66FF99"/>
    <a:srgbClr val="FFFFFF"/>
    <a:srgbClr val="4A5563"/>
    <a:srgbClr val="F0F2F4"/>
    <a:srgbClr val="F4F5F7"/>
    <a:srgbClr val="AFB5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20" autoAdjust="0"/>
    <p:restoredTop sz="96370" autoAdjust="0"/>
  </p:normalViewPr>
  <p:slideViewPr>
    <p:cSldViewPr snapToGrid="0" snapToObjects="1">
      <p:cViewPr varScale="1">
        <p:scale>
          <a:sx n="106" d="100"/>
          <a:sy n="106" d="100"/>
        </p:scale>
        <p:origin x="1368" y="114"/>
      </p:cViewPr>
      <p:guideLst>
        <p:guide orient="horz" pos="2152"/>
        <p:guide pos="3112"/>
        <p:guide orient="horz" pos="859"/>
        <p:guide orient="horz" pos="13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9413" cy="495300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F025AD99-35FA-440B-8F88-3A203730E305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4" tIns="45717" rIns="91434" bIns="4571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34" tIns="45717" rIns="91434" bIns="4571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013"/>
            <a:ext cx="2919413" cy="495300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61E2742E-9E8E-4922-8A9E-A443D39573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46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B5C60-3526-BF29-329E-9077C7A65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>
            <a:extLst>
              <a:ext uri="{FF2B5EF4-FFF2-40B4-BE49-F238E27FC236}">
                <a16:creationId xmlns:a16="http://schemas.microsoft.com/office/drawing/2014/main" id="{7CBDC87E-BEC3-593B-B7F0-09661984C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3613" y="1233488"/>
            <a:ext cx="4810125" cy="3330575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3" name="Rect 0">
            <a:extLst>
              <a:ext uri="{FF2B5EF4-FFF2-40B4-BE49-F238E27FC236}">
                <a16:creationId xmlns:a16="http://schemas.microsoft.com/office/drawing/2014/main" id="{D688941E-17F1-D95C-AE8F-E939EA4BD97C}"/>
              </a:ext>
            </a:extLst>
          </p:cNvPr>
          <p:cNvSpPr txBox="1">
            <a:spLocks noGrp="1"/>
          </p:cNvSpPr>
          <p:nvPr>
            <p:ph type="body"/>
          </p:nvPr>
        </p:nvSpPr>
        <p:spPr>
          <a:xfrm>
            <a:off x="673100" y="4748530"/>
            <a:ext cx="5391785" cy="388620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latinLnBrk="1">
              <a:buFontTx/>
              <a:buNone/>
            </a:pPr>
            <a:endParaRPr/>
          </a:p>
        </p:txBody>
      </p:sp>
      <p:sp>
        <p:nvSpPr>
          <p:cNvPr id="4" name="Rect 0">
            <a:extLst>
              <a:ext uri="{FF2B5EF4-FFF2-40B4-BE49-F238E27FC236}">
                <a16:creationId xmlns:a16="http://schemas.microsoft.com/office/drawing/2014/main" id="{E7EC2F95-6C03-8E33-CDEE-12A823465448}"/>
              </a:ext>
            </a:extLst>
          </p:cNvPr>
          <p:cNvSpPr txBox="1">
            <a:spLocks noGrp="1"/>
          </p:cNvSpPr>
          <p:nvPr>
            <p:ph type="sldNum"/>
          </p:nvPr>
        </p:nvSpPr>
        <p:spPr>
          <a:xfrm>
            <a:off x="3815080" y="9371330"/>
            <a:ext cx="2921000" cy="4972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1</a:t>
            </a:fld>
            <a:endParaRPr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262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5EAAF-A7E8-973E-34EF-1B08D09D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>
            <a:extLst>
              <a:ext uri="{FF2B5EF4-FFF2-40B4-BE49-F238E27FC236}">
                <a16:creationId xmlns:a16="http://schemas.microsoft.com/office/drawing/2014/main" id="{20D98CF0-60B9-65B1-2F16-7B1EC970D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3613" y="1233488"/>
            <a:ext cx="4810125" cy="3330575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3" name="Rect 0">
            <a:extLst>
              <a:ext uri="{FF2B5EF4-FFF2-40B4-BE49-F238E27FC236}">
                <a16:creationId xmlns:a16="http://schemas.microsoft.com/office/drawing/2014/main" id="{05513388-3A18-7614-B0D3-52B7AA26EF56}"/>
              </a:ext>
            </a:extLst>
          </p:cNvPr>
          <p:cNvSpPr txBox="1">
            <a:spLocks noGrp="1"/>
          </p:cNvSpPr>
          <p:nvPr>
            <p:ph type="body"/>
          </p:nvPr>
        </p:nvSpPr>
        <p:spPr>
          <a:xfrm>
            <a:off x="673100" y="4748530"/>
            <a:ext cx="5391785" cy="388620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latinLnBrk="1">
              <a:buFontTx/>
              <a:buNone/>
            </a:pPr>
            <a:endParaRPr/>
          </a:p>
        </p:txBody>
      </p:sp>
      <p:sp>
        <p:nvSpPr>
          <p:cNvPr id="4" name="Rect 0">
            <a:extLst>
              <a:ext uri="{FF2B5EF4-FFF2-40B4-BE49-F238E27FC236}">
                <a16:creationId xmlns:a16="http://schemas.microsoft.com/office/drawing/2014/main" id="{481277E0-D4FC-6E06-1D4D-1053BAEFAD45}"/>
              </a:ext>
            </a:extLst>
          </p:cNvPr>
          <p:cNvSpPr txBox="1">
            <a:spLocks noGrp="1"/>
          </p:cNvSpPr>
          <p:nvPr>
            <p:ph type="sldNum"/>
          </p:nvPr>
        </p:nvSpPr>
        <p:spPr>
          <a:xfrm>
            <a:off x="3815080" y="9371330"/>
            <a:ext cx="2921000" cy="4972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2</a:t>
            </a:fld>
            <a:endParaRPr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171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24192-00BA-C626-300B-E0A644B77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>
            <a:extLst>
              <a:ext uri="{FF2B5EF4-FFF2-40B4-BE49-F238E27FC236}">
                <a16:creationId xmlns:a16="http://schemas.microsoft.com/office/drawing/2014/main" id="{42CFA79C-25B8-5A2F-7A36-171C59C42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3613" y="1233488"/>
            <a:ext cx="4810125" cy="3330575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3" name="Rect 0">
            <a:extLst>
              <a:ext uri="{FF2B5EF4-FFF2-40B4-BE49-F238E27FC236}">
                <a16:creationId xmlns:a16="http://schemas.microsoft.com/office/drawing/2014/main" id="{C763C284-DB3E-B525-EC92-534E6281897F}"/>
              </a:ext>
            </a:extLst>
          </p:cNvPr>
          <p:cNvSpPr txBox="1">
            <a:spLocks noGrp="1"/>
          </p:cNvSpPr>
          <p:nvPr>
            <p:ph type="body"/>
          </p:nvPr>
        </p:nvSpPr>
        <p:spPr>
          <a:xfrm>
            <a:off x="673100" y="4748530"/>
            <a:ext cx="5391785" cy="388620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latinLnBrk="1">
              <a:buFontTx/>
              <a:buNone/>
            </a:pPr>
            <a:endParaRPr/>
          </a:p>
        </p:txBody>
      </p:sp>
      <p:sp>
        <p:nvSpPr>
          <p:cNvPr id="4" name="Rect 0">
            <a:extLst>
              <a:ext uri="{FF2B5EF4-FFF2-40B4-BE49-F238E27FC236}">
                <a16:creationId xmlns:a16="http://schemas.microsoft.com/office/drawing/2014/main" id="{2A106ADA-2A0F-7572-A01D-B7A5F3B93531}"/>
              </a:ext>
            </a:extLst>
          </p:cNvPr>
          <p:cNvSpPr txBox="1">
            <a:spLocks noGrp="1"/>
          </p:cNvSpPr>
          <p:nvPr>
            <p:ph type="sldNum"/>
          </p:nvPr>
        </p:nvSpPr>
        <p:spPr>
          <a:xfrm>
            <a:off x="3815080" y="9371330"/>
            <a:ext cx="2921000" cy="4972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3</a:t>
            </a:fld>
            <a:endParaRPr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536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 noGrp="1" noRot="1" noChangeAspect="1"/>
          </p:cNvSpPr>
          <p:nvPr>
            <p:ph type="sldImg"/>
          </p:nvPr>
        </p:nvSpPr>
        <p:spPr>
          <a:xfrm>
            <a:off x="963613" y="1233488"/>
            <a:ext cx="4810125" cy="3330575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t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673100" y="4748530"/>
            <a:ext cx="5391785" cy="388620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latinLnBrk="1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3815080" y="9371330"/>
            <a:ext cx="2921000" cy="49720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4</a:t>
            </a:fld>
            <a:endParaRPr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38679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user/AppData/Roaming/PolarisOffice/ETemp/15572_17911192/fImage172672117441.jpe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907270" cy="685927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41" descr="C:/Users/user/AppData/Roaming/PolarisOffice/ETemp/9044_16119488/fImage219414741.png">
            <a:extLst>
              <a:ext uri="{FF2B5EF4-FFF2-40B4-BE49-F238E27FC236}">
                <a16:creationId xmlns:a16="http://schemas.microsoft.com/office/drawing/2014/main" id="{DD782D0F-1645-BBCA-A9C1-06B21A0A8EA8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76435" y="6572513"/>
            <a:ext cx="936000" cy="216000"/>
          </a:xfrm>
          <a:prstGeom prst="rect">
            <a:avLst/>
          </a:prstGeom>
          <a:noFill/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77B4AC4-3AA6-D688-7F40-366FA55E47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3565" y="6572513"/>
            <a:ext cx="762946" cy="18693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 0"/>
          <p:cNvSpPr txBox="1">
            <a:spLocks noGrp="1"/>
          </p:cNvSpPr>
          <p:nvPr>
            <p:ph type="title"/>
          </p:nvPr>
        </p:nvSpPr>
        <p:spPr>
          <a:xfrm>
            <a:off x="378460" y="318135"/>
            <a:ext cx="6970395" cy="49149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마스터 제목 스타일 편집</a:t>
            </a:r>
          </a:p>
        </p:txBody>
      </p:sp>
      <p:cxnSp>
        <p:nvCxnSpPr>
          <p:cNvPr id="10" name="Rect 0"/>
          <p:cNvCxnSpPr/>
          <p:nvPr/>
        </p:nvCxnSpPr>
        <p:spPr>
          <a:xfrm>
            <a:off x="0" y="846455"/>
            <a:ext cx="9907270" cy="1270"/>
          </a:xfrm>
          <a:prstGeom prst="line">
            <a:avLst/>
          </a:prstGeom>
          <a:ln w="9525" cap="flat" cmpd="sng">
            <a:gradFill rotWithShape="1">
              <a:gsLst>
                <a:gs pos="0">
                  <a:schemeClr val="bg1">
                    <a:lumMod val="85000"/>
                  </a:schemeClr>
                </a:gs>
                <a:gs pos="67000">
                  <a:srgbClr val="CED9E6"/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ct 0"/>
          <p:cNvCxnSpPr/>
          <p:nvPr/>
        </p:nvCxnSpPr>
        <p:spPr>
          <a:xfrm>
            <a:off x="0" y="6483350"/>
            <a:ext cx="9907270" cy="1270"/>
          </a:xfrm>
          <a:prstGeom prst="line">
            <a:avLst/>
          </a:prstGeom>
          <a:noFill/>
          <a:ln w="9525" cap="flat" cmpd="sng">
            <a:gradFill rotWithShape="1">
              <a:gsLst>
                <a:gs pos="0">
                  <a:srgbClr val="FFFFFF">
                    <a:lumMod val="85000"/>
                  </a:srgbClr>
                </a:gs>
                <a:gs pos="67000">
                  <a:srgbClr val="CED9E6"/>
                </a:gs>
                <a:gs pos="100000">
                  <a:srgbClr val="C0504D">
                    <a:lumMod val="20000"/>
                    <a:lumOff val="80000"/>
                  </a:srgbClr>
                </a:gs>
              </a:gsLst>
              <a:lin ang="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1" descr="C:/Users/user/AppData/Roaming/PolarisOffice/ETemp/9044_16119488/fImage219414741.png">
            <a:extLst>
              <a:ext uri="{FF2B5EF4-FFF2-40B4-BE49-F238E27FC236}">
                <a16:creationId xmlns:a16="http://schemas.microsoft.com/office/drawing/2014/main" id="{8036CEE4-E6D3-91C8-D36F-0473322A665A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76435" y="6572513"/>
            <a:ext cx="936000" cy="21600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>
            <a:extLst>
              <a:ext uri="{FF2B5EF4-FFF2-40B4-BE49-F238E27FC236}">
                <a16:creationId xmlns:a16="http://schemas.microsoft.com/office/drawing/2014/main" id="{84977735-AB4D-8EBF-6A73-A57BCEEBD814}"/>
              </a:ext>
            </a:extLst>
          </p:cNvPr>
          <p:cNvSpPr txBox="1">
            <a:spLocks/>
          </p:cNvSpPr>
          <p:nvPr userDrawn="1"/>
        </p:nvSpPr>
        <p:spPr>
          <a:xfrm>
            <a:off x="4647583" y="6522827"/>
            <a:ext cx="564577" cy="307777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ctr" defTabSz="914400" rtl="0" latinLnBrk="0">
              <a:buFontTx/>
              <a:buNone/>
            </a:pPr>
            <a:fld id="{B9320F77-B9A0-41C5-862A-B4B631284C64}" type="slidenum">
              <a:rPr sz="1400" b="1" smtClean="0">
                <a:solidFill>
                  <a:srgbClr val="FFFFFF">
                    <a:lumMod val="50000"/>
                  </a:srgbClr>
                </a:solidFill>
                <a:latin typeface="맑은 고딕" charset="0"/>
                <a:ea typeface="맑은 고딕" charset="0"/>
              </a:rPr>
              <a:t>‹#›</a:t>
            </a:fld>
            <a:r>
              <a:rPr sz="1200" dirty="0">
                <a:solidFill>
                  <a:srgbClr val="FFFFFF">
                    <a:lumMod val="50000"/>
                  </a:srgbClr>
                </a:solidFill>
                <a:latin typeface="맑은 고딕" charset="0"/>
                <a:ea typeface="맑은 고딕" charset="0"/>
              </a:rPr>
              <a:t>/</a:t>
            </a:r>
            <a:r>
              <a:rPr lang="en-US" altLang="ko-KR" sz="1200" dirty="0">
                <a:solidFill>
                  <a:srgbClr val="FFFFFF">
                    <a:lumMod val="50000"/>
                  </a:srgbClr>
                </a:solidFill>
                <a:latin typeface="맑은 고딕" charset="0"/>
                <a:ea typeface="맑은 고딕" charset="0"/>
              </a:rPr>
              <a:t>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49" r:id="rId1"/>
    <p:sldLayoutId id="2147486150" r:id="rId2"/>
    <p:sldLayoutId id="2147486151" r:id="rId3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/>
          </p:cNvSpPr>
          <p:nvPr/>
        </p:nvSpPr>
        <p:spPr>
          <a:xfrm>
            <a:off x="770890" y="2032172"/>
            <a:ext cx="6283536" cy="2000548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sz="3500" b="1" spc="-140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latin typeface="맑은 고딕" charset="0"/>
                <a:ea typeface="맑은 고딕" charset="0"/>
                <a:cs typeface="KoPubWorld돋움체 Bold" charset="0"/>
              </a:rPr>
              <a:t>물류창고관리 운영 개발 </a:t>
            </a:r>
            <a:endParaRPr lang="en-US" altLang="ko-KR" sz="3000" b="1" spc="-140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latin typeface="맑은 고딕" charset="0"/>
              <a:ea typeface="맑은 고딕" charset="0"/>
              <a:cs typeface="KoPubWorld돋움체 Bold" charset="0"/>
            </a:endParaRPr>
          </a:p>
          <a:p>
            <a:pPr marL="0" indent="0" latinLnBrk="0">
              <a:buFontTx/>
              <a:buNone/>
            </a:pPr>
            <a:endParaRPr lang="en-US" altLang="ko-KR" sz="3000" b="1" spc="-140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latin typeface="맑은 고딕" charset="0"/>
              <a:ea typeface="맑은 고딕" charset="0"/>
              <a:cs typeface="KoPubWorld돋움체 Bold" charset="0"/>
            </a:endParaRPr>
          </a:p>
          <a:p>
            <a:pPr marL="0" indent="0" latinLnBrk="0">
              <a:buFontTx/>
              <a:buNone/>
            </a:pPr>
            <a:r>
              <a:rPr lang="en-US" altLang="ko-KR" sz="3000" b="1" spc="-140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latin typeface="맑은 고딕" charset="0"/>
                <a:ea typeface="맑은 고딕" charset="0"/>
                <a:cs typeface="KoPubWorld돋움체 Bold" charset="0"/>
              </a:rPr>
              <a:t>To-be </a:t>
            </a:r>
            <a:r>
              <a:rPr lang="ko-KR" altLang="en-US" sz="3000" b="1" spc="-140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latin typeface="맑은 고딕" charset="0"/>
                <a:ea typeface="맑은 고딕" charset="0"/>
                <a:cs typeface="KoPubWorld돋움체 Bold" charset="0"/>
              </a:rPr>
              <a:t>프로세스 설계서</a:t>
            </a:r>
            <a:endParaRPr lang="en-US" altLang="ko-KR" sz="3000" b="1" spc="-140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latin typeface="맑은 고딕" charset="0"/>
              <a:ea typeface="맑은 고딕" charset="0"/>
              <a:cs typeface="KoPubWorld돋움체 Bold" charset="0"/>
            </a:endParaRPr>
          </a:p>
          <a:p>
            <a:pPr marL="0" indent="0" latinLnBrk="0">
              <a:buFontTx/>
              <a:buNone/>
            </a:pPr>
            <a:endParaRPr lang="en-US" altLang="ko-KR" sz="3500" b="1" spc="-140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latin typeface="맑은 고딕" charset="0"/>
              <a:ea typeface="맑은 고딕" charset="0"/>
              <a:cs typeface="KoPubWorld돋움체 Bold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A7CC5D-DB24-4609-B9DA-594B6F21ABCD}"/>
              </a:ext>
            </a:extLst>
          </p:cNvPr>
          <p:cNvSpPr txBox="1"/>
          <p:nvPr/>
        </p:nvSpPr>
        <p:spPr>
          <a:xfrm>
            <a:off x="770890" y="5183505"/>
            <a:ext cx="1261110" cy="185420"/>
          </a:xfrm>
          <a:prstGeom prst="rect">
            <a:avLst/>
          </a:prstGeom>
          <a:noFill/>
        </p:spPr>
        <p:txBody>
          <a:bodyPr vert="horz" wrap="square" lIns="6985" tIns="0" rIns="0" bIns="0" numCol="1" anchor="t">
            <a:spAutoFit/>
          </a:bodyPr>
          <a:lstStyle/>
          <a:p>
            <a:pPr marL="0" indent="0" latinLnBrk="0">
              <a:buFontTx/>
              <a:buNone/>
            </a:pPr>
            <a:r>
              <a:rPr lang="en-US" altLang="ko-KR" sz="1200" b="1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cs typeface="KoPubWorld돋움체 Medium" charset="0"/>
              </a:rPr>
              <a:t>2026. 10</a:t>
            </a:r>
            <a:endParaRPr lang="ko-KR" altLang="en-US" sz="1200" b="1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charset="0"/>
              <a:cs typeface="KoPubWorld돋움체 Medium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33364BA-212A-03C3-8E4A-6BC898407A4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676" y="867229"/>
            <a:ext cx="1429385" cy="3149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7727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FC99D-2848-DF18-1489-E8FDDE91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 0">
            <a:extLst>
              <a:ext uri="{FF2B5EF4-FFF2-40B4-BE49-F238E27FC236}">
                <a16:creationId xmlns:a16="http://schemas.microsoft.com/office/drawing/2014/main" id="{DFBC497D-37A7-41FC-BB86-DBBEF4017BBD}"/>
              </a:ext>
            </a:extLst>
          </p:cNvPr>
          <p:cNvSpPr txBox="1">
            <a:spLocks/>
          </p:cNvSpPr>
          <p:nvPr/>
        </p:nvSpPr>
        <p:spPr>
          <a:xfrm>
            <a:off x="274376" y="180298"/>
            <a:ext cx="7592604" cy="4921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lang="en-US" altLang="ko-KR" sz="3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1. To-be</a:t>
            </a:r>
            <a:r>
              <a:rPr lang="ko-KR" altLang="en-US" sz="3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3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Process </a:t>
            </a:r>
            <a:r>
              <a:rPr lang="en-US" altLang="ko-KR" sz="2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: </a:t>
            </a:r>
            <a:r>
              <a:rPr lang="ko-KR" altLang="en-US" sz="2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선입선출관리</a:t>
            </a:r>
          </a:p>
        </p:txBody>
      </p:sp>
      <p:graphicFrame>
        <p:nvGraphicFramePr>
          <p:cNvPr id="3" name="Table 37">
            <a:extLst>
              <a:ext uri="{FF2B5EF4-FFF2-40B4-BE49-F238E27FC236}">
                <a16:creationId xmlns:a16="http://schemas.microsoft.com/office/drawing/2014/main" id="{F6337C0B-412F-542C-F172-2C3E39392AF1}"/>
              </a:ext>
            </a:extLst>
          </p:cNvPr>
          <p:cNvGraphicFramePr>
            <a:graphicFrameLocks noGrp="1"/>
          </p:cNvGraphicFramePr>
          <p:nvPr/>
        </p:nvGraphicFramePr>
        <p:xfrm>
          <a:off x="200472" y="889392"/>
          <a:ext cx="9493679" cy="487680"/>
        </p:xfrm>
        <a:graphic>
          <a:graphicData uri="http://schemas.openxmlformats.org/drawingml/2006/table">
            <a:tbl>
              <a:tblPr/>
              <a:tblGrid>
                <a:gridCol w="1643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 b="1" dirty="0">
                          <a:solidFill>
                            <a:prstClr val="black"/>
                          </a:solidFill>
                          <a:latin typeface="+mn-lt"/>
                          <a:ea typeface="+mn-ea"/>
                        </a:rPr>
                        <a:t>Process ID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P15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 b="1" dirty="0">
                          <a:solidFill>
                            <a:prstClr val="black"/>
                          </a:solidFill>
                          <a:latin typeface="+mn-lt"/>
                          <a:ea typeface="+mn-ea"/>
                        </a:rPr>
                        <a:t>Process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1" dirty="0">
                          <a:latin typeface="+mn-lt"/>
                          <a:ea typeface="+mn-ea"/>
                        </a:rPr>
                        <a:t>물류창고관리</a:t>
                      </a:r>
                      <a:endParaRPr lang="en-US" altLang="ko-KR" sz="1000" b="1" dirty="0">
                        <a:latin typeface="+mn-lt"/>
                        <a:ea typeface="+mn-ea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Objective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선입선출 통제 및 예외 해제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rebuchet MS" pitchFamily="34" charset="0"/>
                        <a:ea typeface="+mn-ea"/>
                      </a:endParaRPr>
                    </a:p>
                  </a:txBody>
                  <a:tcPr marT="91440" marB="9144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A3AF9526-DAD2-F1A4-4695-7AAC1868E503}"/>
              </a:ext>
            </a:extLst>
          </p:cNvPr>
          <p:cNvSpPr txBox="1"/>
          <p:nvPr/>
        </p:nvSpPr>
        <p:spPr>
          <a:xfrm>
            <a:off x="7797255" y="364743"/>
            <a:ext cx="2005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u="sng" dirty="0">
                <a:solidFill>
                  <a:schemeClr val="bg1">
                    <a:lumMod val="65000"/>
                  </a:schemeClr>
                </a:solidFill>
              </a:rPr>
              <a:t>2. To-be</a:t>
            </a:r>
            <a:r>
              <a:rPr lang="ko-KR" altLang="en-US" b="1" i="1" u="sng" dirty="0">
                <a:solidFill>
                  <a:schemeClr val="bg1">
                    <a:lumMod val="65000"/>
                  </a:schemeClr>
                </a:solidFill>
              </a:rPr>
              <a:t>프로세스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8908C10-5BDC-9071-31B7-6430301E7805}"/>
              </a:ext>
            </a:extLst>
          </p:cNvPr>
          <p:cNvGraphicFramePr>
            <a:graphicFrameLocks noGrp="1"/>
          </p:cNvGraphicFramePr>
          <p:nvPr/>
        </p:nvGraphicFramePr>
        <p:xfrm>
          <a:off x="166653" y="1490938"/>
          <a:ext cx="9572692" cy="49292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72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29222">
                <a:tc>
                  <a:txBody>
                    <a:bodyPr/>
                    <a:lstStyle/>
                    <a:p>
                      <a:endParaRPr lang="ko-KR" altLang="ko-KR" sz="1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7" name="Google Shape;147;p15">
            <a:extLst>
              <a:ext uri="{FF2B5EF4-FFF2-40B4-BE49-F238E27FC236}">
                <a16:creationId xmlns:a16="http://schemas.microsoft.com/office/drawing/2014/main" id="{F29B442F-ECB7-1F79-CD1E-1CBA64038BF9}"/>
              </a:ext>
            </a:extLst>
          </p:cNvPr>
          <p:cNvGrpSpPr/>
          <p:nvPr/>
        </p:nvGrpSpPr>
        <p:grpSpPr>
          <a:xfrm>
            <a:off x="220726" y="1535066"/>
            <a:ext cx="4500637" cy="4152502"/>
            <a:chOff x="238125" y="809625"/>
            <a:chExt cx="4238700" cy="3528672"/>
          </a:xfrm>
        </p:grpSpPr>
        <p:sp>
          <p:nvSpPr>
            <p:cNvPr id="18" name="Google Shape;148;p15">
              <a:extLst>
                <a:ext uri="{FF2B5EF4-FFF2-40B4-BE49-F238E27FC236}">
                  <a16:creationId xmlns:a16="http://schemas.microsoft.com/office/drawing/2014/main" id="{234BD854-7848-87FE-50C6-D5327BDB6314}"/>
                </a:ext>
              </a:extLst>
            </p:cNvPr>
            <p:cNvSpPr/>
            <p:nvPr/>
          </p:nvSpPr>
          <p:spPr>
            <a:xfrm>
              <a:off x="238125" y="809625"/>
              <a:ext cx="4238700" cy="3528672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14300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49;p15">
              <a:extLst>
                <a:ext uri="{FF2B5EF4-FFF2-40B4-BE49-F238E27FC236}">
                  <a16:creationId xmlns:a16="http://schemas.microsoft.com/office/drawing/2014/main" id="{27666D3D-C203-34A6-326C-E92C224495F1}"/>
                </a:ext>
              </a:extLst>
            </p:cNvPr>
            <p:cNvSpPr txBox="1"/>
            <p:nvPr/>
          </p:nvSpPr>
          <p:spPr>
            <a:xfrm>
              <a:off x="381000" y="904875"/>
              <a:ext cx="395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0" b="1" dirty="0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1. </a:t>
              </a:r>
              <a:r>
                <a:rPr lang="ko-KR" altLang="en-US" sz="1100" b="1" dirty="0" err="1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인터락</a:t>
              </a:r>
              <a:r>
                <a:rPr lang="ko-KR" altLang="en-US" sz="1100" b="1" dirty="0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 예외 관리 프로세스</a:t>
              </a:r>
            </a:p>
          </p:txBody>
        </p:sp>
      </p:grpSp>
      <p:grpSp>
        <p:nvGrpSpPr>
          <p:cNvPr id="20" name="Google Shape;147;p15">
            <a:extLst>
              <a:ext uri="{FF2B5EF4-FFF2-40B4-BE49-F238E27FC236}">
                <a16:creationId xmlns:a16="http://schemas.microsoft.com/office/drawing/2014/main" id="{C16C371B-EBD4-D1C1-C3DE-5691345B19BD}"/>
              </a:ext>
            </a:extLst>
          </p:cNvPr>
          <p:cNvGrpSpPr/>
          <p:nvPr/>
        </p:nvGrpSpPr>
        <p:grpSpPr>
          <a:xfrm>
            <a:off x="4775436" y="1535066"/>
            <a:ext cx="4898927" cy="4820010"/>
            <a:chOff x="238125" y="809625"/>
            <a:chExt cx="4238700" cy="4095900"/>
          </a:xfrm>
        </p:grpSpPr>
        <p:sp>
          <p:nvSpPr>
            <p:cNvPr id="21" name="Google Shape;148;p15">
              <a:extLst>
                <a:ext uri="{FF2B5EF4-FFF2-40B4-BE49-F238E27FC236}">
                  <a16:creationId xmlns:a16="http://schemas.microsoft.com/office/drawing/2014/main" id="{7AD3DBD3-92FA-181E-E764-FC1311156F37}"/>
                </a:ext>
              </a:extLst>
            </p:cNvPr>
            <p:cNvSpPr/>
            <p:nvPr/>
          </p:nvSpPr>
          <p:spPr>
            <a:xfrm>
              <a:off x="238125" y="809625"/>
              <a:ext cx="4238700" cy="4095900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14300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149;p15">
              <a:extLst>
                <a:ext uri="{FF2B5EF4-FFF2-40B4-BE49-F238E27FC236}">
                  <a16:creationId xmlns:a16="http://schemas.microsoft.com/office/drawing/2014/main" id="{39CA7B56-0695-0698-6C9C-ADAFF9399CDC}"/>
                </a:ext>
              </a:extLst>
            </p:cNvPr>
            <p:cNvSpPr txBox="1"/>
            <p:nvPr/>
          </p:nvSpPr>
          <p:spPr>
            <a:xfrm>
              <a:off x="381000" y="904875"/>
              <a:ext cx="395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/>
              <a:r>
                <a:rPr lang="en-US" altLang="ko-KR" sz="11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2. </a:t>
              </a:r>
              <a:r>
                <a:rPr lang="ko-KR" altLang="en-US" sz="11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현장 업무 프로세스 </a:t>
              </a:r>
              <a:r>
                <a:rPr lang="en-US" altLang="ko-KR" sz="11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ko-KR" altLang="en-US" sz="11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출고 </a:t>
              </a:r>
              <a:r>
                <a:rPr lang="en-US" altLang="ko-KR" sz="11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/ </a:t>
              </a:r>
              <a:r>
                <a:rPr lang="ko-KR" altLang="en-US" sz="11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재포장 </a:t>
              </a:r>
              <a:r>
                <a:rPr lang="en-US" altLang="ko-KR" sz="11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/ </a:t>
              </a:r>
              <a:r>
                <a:rPr lang="ko-KR" altLang="en-US" sz="1100" b="1" dirty="0" err="1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박스합침</a:t>
              </a:r>
              <a:r>
                <a:rPr lang="en-US" altLang="ko-KR" sz="1100" b="1" dirty="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lang="ko-KR" altLang="en-US" sz="1100" b="1" dirty="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0FC272F-60B1-661D-6B9D-C868150701AE}"/>
              </a:ext>
            </a:extLst>
          </p:cNvPr>
          <p:cNvSpPr txBox="1"/>
          <p:nvPr/>
        </p:nvSpPr>
        <p:spPr>
          <a:xfrm>
            <a:off x="365760" y="1901952"/>
            <a:ext cx="4160520" cy="329184"/>
          </a:xfrm>
          <a:prstGeom prst="rect">
            <a:avLst/>
          </a:prstGeom>
          <a:noFill/>
        </p:spPr>
        <p:txBody>
          <a:bodyPr wrap="square" lIns="50000" tIns="28000" rIns="50000" bIns="28000" anchor="t"/>
          <a:lstStyle/>
          <a:p>
            <a:pPr marL="0" indent="0" algn="ctr"/>
            <a:r>
              <a:rPr lang="ko-KR" sz="900" b="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관리 키: 품번 + 변경코드 + </a:t>
            </a:r>
            <a:r>
              <a:rPr lang="ko-KR" sz="900" b="0" dirty="0" err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입고처</a:t>
            </a:r>
            <a:endParaRPr lang="ko-KR" sz="900" b="0" dirty="0">
              <a:solidFill>
                <a:srgbClr val="4B556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Decision 24">
            <a:extLst>
              <a:ext uri="{FF2B5EF4-FFF2-40B4-BE49-F238E27FC236}">
                <a16:creationId xmlns:a16="http://schemas.microsoft.com/office/drawing/2014/main" id="{0A199EF1-DCE2-BE59-804F-9AA83D421666}"/>
              </a:ext>
            </a:extLst>
          </p:cNvPr>
          <p:cNvSpPr/>
          <p:nvPr/>
        </p:nvSpPr>
        <p:spPr>
          <a:xfrm>
            <a:off x="1627632" y="2078928"/>
            <a:ext cx="1554480" cy="475488"/>
          </a:xfrm>
          <a:prstGeom prst="flowChartDecision">
            <a:avLst/>
          </a:prstGeom>
          <a:solidFill>
            <a:srgbClr val="F8FAFC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11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작업 선택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C6DDD3-5B76-BC0C-3042-71AF528249D5}"/>
              </a:ext>
            </a:extLst>
          </p:cNvPr>
          <p:cNvSpPr txBox="1"/>
          <p:nvPr/>
        </p:nvSpPr>
        <p:spPr>
          <a:xfrm>
            <a:off x="528717" y="2572704"/>
            <a:ext cx="1298448" cy="219456"/>
          </a:xfrm>
          <a:prstGeom prst="rect">
            <a:avLst/>
          </a:prstGeom>
          <a:noFill/>
        </p:spPr>
        <p:txBody>
          <a:bodyPr wrap="square" lIns="50000" tIns="28000" rIns="50000" bIns="28000" anchor="ctr"/>
          <a:lstStyle/>
          <a:p>
            <a:pPr marL="0" indent="0" algn="ctr"/>
            <a:r>
              <a:rPr lang="ko-KR" sz="100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삭제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EB9758-8DB6-1E1B-529B-DDABC9C70E54}"/>
              </a:ext>
            </a:extLst>
          </p:cNvPr>
          <p:cNvSpPr/>
          <p:nvPr/>
        </p:nvSpPr>
        <p:spPr>
          <a:xfrm>
            <a:off x="365760" y="2810448"/>
            <a:ext cx="1298448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9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대상 규칙 선택</a:t>
            </a:r>
          </a:p>
          <a:p>
            <a:pPr marL="0" indent="0" algn="ctr"/>
            <a:r>
              <a:rPr lang="ko-KR" sz="9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관리 키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24327A-F153-48AF-6AE8-7848CAD69032}"/>
              </a:ext>
            </a:extLst>
          </p:cNvPr>
          <p:cNvSpPr/>
          <p:nvPr/>
        </p:nvSpPr>
        <p:spPr>
          <a:xfrm>
            <a:off x="365760" y="3578544"/>
            <a:ext cx="1298448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9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DataState = Deleted</a:t>
            </a:r>
          </a:p>
          <a:p>
            <a:pPr marL="0" indent="0" algn="ctr"/>
            <a:r>
              <a:rPr lang="ko-KR" altLang="en-US" sz="9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상태 변경</a:t>
            </a:r>
            <a:endParaRPr lang="ko-KR" sz="900" b="1" dirty="0">
              <a:solidFill>
                <a:srgbClr val="1F497D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4F7B8F-A46D-212B-8D87-96D16E9D54B5}"/>
              </a:ext>
            </a:extLst>
          </p:cNvPr>
          <p:cNvSpPr txBox="1"/>
          <p:nvPr/>
        </p:nvSpPr>
        <p:spPr>
          <a:xfrm>
            <a:off x="1918605" y="2572704"/>
            <a:ext cx="1298448" cy="219456"/>
          </a:xfrm>
          <a:prstGeom prst="rect">
            <a:avLst/>
          </a:prstGeom>
          <a:noFill/>
        </p:spPr>
        <p:txBody>
          <a:bodyPr wrap="square" lIns="50000" tIns="28000" rIns="50000" bIns="28000" anchor="ctr"/>
          <a:lstStyle/>
          <a:p>
            <a:pPr marL="0" indent="0" algn="ctr"/>
            <a:r>
              <a:rPr lang="ko-KR" sz="100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19D136-E3F6-1B9E-E66F-EBC675604369}"/>
              </a:ext>
            </a:extLst>
          </p:cNvPr>
          <p:cNvSpPr/>
          <p:nvPr/>
        </p:nvSpPr>
        <p:spPr>
          <a:xfrm>
            <a:off x="1755648" y="2810448"/>
            <a:ext cx="1298448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9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관리 키 입력</a:t>
            </a:r>
          </a:p>
          <a:p>
            <a:pPr marL="0" indent="0" algn="ctr"/>
            <a:r>
              <a:rPr lang="ko-KR" sz="9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품번·변경코드·입고처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4D35EC-9C41-3D0E-634E-190F6356261F}"/>
              </a:ext>
            </a:extLst>
          </p:cNvPr>
          <p:cNvSpPr/>
          <p:nvPr/>
        </p:nvSpPr>
        <p:spPr>
          <a:xfrm>
            <a:off x="1755648" y="3578544"/>
            <a:ext cx="1298448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9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기간 또는 영구 입력</a:t>
            </a:r>
          </a:p>
          <a:p>
            <a:pPr marL="0" indent="0" algn="ctr"/>
            <a:r>
              <a:rPr lang="ko-KR" sz="9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Created로 등록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DD7F46-34C5-BD59-811B-B562F961D82F}"/>
              </a:ext>
            </a:extLst>
          </p:cNvPr>
          <p:cNvSpPr txBox="1"/>
          <p:nvPr/>
        </p:nvSpPr>
        <p:spPr>
          <a:xfrm>
            <a:off x="3308493" y="2572704"/>
            <a:ext cx="1298448" cy="219456"/>
          </a:xfrm>
          <a:prstGeom prst="rect">
            <a:avLst/>
          </a:prstGeom>
          <a:noFill/>
        </p:spPr>
        <p:txBody>
          <a:bodyPr wrap="square" lIns="50000" tIns="28000" rIns="50000" bIns="28000" anchor="ctr"/>
          <a:lstStyle/>
          <a:p>
            <a:pPr marL="0" indent="0" algn="ctr"/>
            <a:r>
              <a:rPr lang="ko-KR" sz="100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수정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435F93-434A-1029-95FF-FFCFDDBC272B}"/>
              </a:ext>
            </a:extLst>
          </p:cNvPr>
          <p:cNvSpPr/>
          <p:nvPr/>
        </p:nvSpPr>
        <p:spPr>
          <a:xfrm>
            <a:off x="3145536" y="2810448"/>
            <a:ext cx="1298448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9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대상 규칙 선택</a:t>
            </a:r>
          </a:p>
          <a:p>
            <a:pPr marL="0" indent="0" algn="ctr"/>
            <a:r>
              <a:rPr lang="ko-KR" sz="9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관리 키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5760C4-6EC3-4E8D-1E40-2C30997BDD30}"/>
              </a:ext>
            </a:extLst>
          </p:cNvPr>
          <p:cNvSpPr/>
          <p:nvPr/>
        </p:nvSpPr>
        <p:spPr>
          <a:xfrm>
            <a:off x="3145536" y="3578544"/>
            <a:ext cx="1298448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900" b="1" dirty="0" err="1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기간·영구</a:t>
            </a:r>
            <a:r>
              <a:rPr lang="en-US" altLang="ko-KR" sz="9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9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값</a:t>
            </a:r>
            <a:r>
              <a:rPr lang="ko-KR" sz="9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 변경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2415C67-EEFC-D271-E9A6-75CE899AE869}"/>
              </a:ext>
            </a:extLst>
          </p:cNvPr>
          <p:cNvSpPr/>
          <p:nvPr/>
        </p:nvSpPr>
        <p:spPr>
          <a:xfrm>
            <a:off x="1234440" y="4511232"/>
            <a:ext cx="233172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10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FIFOEXCEPTIONRULE</a:t>
            </a:r>
          </a:p>
          <a:p>
            <a:pPr marL="0" indent="0" algn="ctr"/>
            <a:r>
              <a:rPr lang="ko-KR" sz="10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테이블 반영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94063F-8059-9D21-4E14-EB624A83EA40}"/>
              </a:ext>
            </a:extLst>
          </p:cNvPr>
          <p:cNvSpPr txBox="1"/>
          <p:nvPr/>
        </p:nvSpPr>
        <p:spPr>
          <a:xfrm>
            <a:off x="365760" y="5133024"/>
            <a:ext cx="4160520" cy="777240"/>
          </a:xfrm>
          <a:prstGeom prst="rect">
            <a:avLst/>
          </a:prstGeom>
          <a:noFill/>
        </p:spPr>
        <p:txBody>
          <a:bodyPr wrap="square" lIns="50000" tIns="28000" rIns="50000" bIns="28000" anchor="t"/>
          <a:lstStyle/>
          <a:p>
            <a:pPr marL="0" indent="0" algn="ctr"/>
            <a:r>
              <a:rPr lang="ko-KR" sz="800" b="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기간: 종료일 = 시작일 + 적용일수. 시작일 기본값은 등록일.</a:t>
            </a:r>
          </a:p>
          <a:p>
            <a:pPr marL="0" indent="0" algn="ctr"/>
            <a:r>
              <a:rPr lang="ko-KR" sz="800" b="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영구: 종료일을 비워 만료 판정에서 제외.</a:t>
            </a:r>
          </a:p>
          <a:p>
            <a:pPr marL="0" indent="0" algn="ctr"/>
            <a:r>
              <a:rPr lang="ko-KR" sz="800" b="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수정: 시작일·일수·영구가 바뀐 때만 종료일을 다시 계산.</a:t>
            </a:r>
          </a:p>
          <a:p>
            <a:pPr marL="0" indent="0" algn="ctr"/>
            <a:r>
              <a:rPr lang="ko-KR" sz="800" b="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수정일 자체로 종료일을 바꾸지 않음.</a:t>
            </a:r>
          </a:p>
        </p:txBody>
      </p:sp>
      <p:cxnSp>
        <p:nvCxnSpPr>
          <p:cNvPr id="37" name="Connector 36">
            <a:extLst>
              <a:ext uri="{FF2B5EF4-FFF2-40B4-BE49-F238E27FC236}">
                <a16:creationId xmlns:a16="http://schemas.microsoft.com/office/drawing/2014/main" id="{674A51AA-0A6F-DCFD-F847-C8FE98C3A965}"/>
              </a:ext>
            </a:extLst>
          </p:cNvPr>
          <p:cNvCxnSpPr/>
          <p:nvPr/>
        </p:nvCxnSpPr>
        <p:spPr>
          <a:xfrm flipV="1">
            <a:off x="2404872" y="2536128"/>
            <a:ext cx="0" cy="18288"/>
          </a:xfrm>
          <a:prstGeom prst="line">
            <a:avLst/>
          </a:prstGeom>
          <a:ln w="1587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5047E445-7498-7B16-9710-3123AFB69A55}"/>
              </a:ext>
            </a:extLst>
          </p:cNvPr>
          <p:cNvCxnSpPr/>
          <p:nvPr/>
        </p:nvCxnSpPr>
        <p:spPr>
          <a:xfrm>
            <a:off x="1014983" y="2536128"/>
            <a:ext cx="2779777" cy="0"/>
          </a:xfrm>
          <a:prstGeom prst="line">
            <a:avLst/>
          </a:prstGeom>
          <a:ln w="1587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E7E03BA6-A32B-E20F-8B1F-765A6374BEA7}"/>
              </a:ext>
            </a:extLst>
          </p:cNvPr>
          <p:cNvCxnSpPr/>
          <p:nvPr/>
        </p:nvCxnSpPr>
        <p:spPr>
          <a:xfrm>
            <a:off x="1014983" y="2536128"/>
            <a:ext cx="0" cy="274320"/>
          </a:xfrm>
          <a:prstGeom prst="line">
            <a:avLst/>
          </a:prstGeom>
          <a:ln w="15875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6F466581-2595-9BCC-D5F4-2C4A9F01C017}"/>
              </a:ext>
            </a:extLst>
          </p:cNvPr>
          <p:cNvCxnSpPr/>
          <p:nvPr/>
        </p:nvCxnSpPr>
        <p:spPr>
          <a:xfrm>
            <a:off x="1014983" y="3413952"/>
            <a:ext cx="0" cy="164592"/>
          </a:xfrm>
          <a:prstGeom prst="line">
            <a:avLst/>
          </a:prstGeom>
          <a:ln w="15875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>
            <a:extLst>
              <a:ext uri="{FF2B5EF4-FFF2-40B4-BE49-F238E27FC236}">
                <a16:creationId xmlns:a16="http://schemas.microsoft.com/office/drawing/2014/main" id="{47CB73E0-B416-C21A-1425-D3B3C1748D1E}"/>
              </a:ext>
            </a:extLst>
          </p:cNvPr>
          <p:cNvCxnSpPr/>
          <p:nvPr/>
        </p:nvCxnSpPr>
        <p:spPr>
          <a:xfrm>
            <a:off x="2404872" y="2536128"/>
            <a:ext cx="0" cy="274320"/>
          </a:xfrm>
          <a:prstGeom prst="line">
            <a:avLst/>
          </a:prstGeom>
          <a:ln w="15875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>
            <a:extLst>
              <a:ext uri="{FF2B5EF4-FFF2-40B4-BE49-F238E27FC236}">
                <a16:creationId xmlns:a16="http://schemas.microsoft.com/office/drawing/2014/main" id="{5586F332-4EE4-3EBD-256F-217B875C4504}"/>
              </a:ext>
            </a:extLst>
          </p:cNvPr>
          <p:cNvCxnSpPr/>
          <p:nvPr/>
        </p:nvCxnSpPr>
        <p:spPr>
          <a:xfrm>
            <a:off x="2404872" y="3413952"/>
            <a:ext cx="0" cy="164592"/>
          </a:xfrm>
          <a:prstGeom prst="line">
            <a:avLst/>
          </a:prstGeom>
          <a:ln w="15875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2ACF8A57-54A9-6ABA-122E-897DEE6BFBA2}"/>
              </a:ext>
            </a:extLst>
          </p:cNvPr>
          <p:cNvCxnSpPr/>
          <p:nvPr/>
        </p:nvCxnSpPr>
        <p:spPr>
          <a:xfrm>
            <a:off x="3794760" y="2536128"/>
            <a:ext cx="0" cy="274320"/>
          </a:xfrm>
          <a:prstGeom prst="line">
            <a:avLst/>
          </a:prstGeom>
          <a:ln w="15875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834AD7C7-1281-C7F5-6C07-046DC09757F6}"/>
              </a:ext>
            </a:extLst>
          </p:cNvPr>
          <p:cNvCxnSpPr/>
          <p:nvPr/>
        </p:nvCxnSpPr>
        <p:spPr>
          <a:xfrm>
            <a:off x="3794760" y="3413952"/>
            <a:ext cx="0" cy="164592"/>
          </a:xfrm>
          <a:prstGeom prst="line">
            <a:avLst/>
          </a:prstGeom>
          <a:ln w="15875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55402EA5-40C9-2070-BE79-F95F7D1E1F79}"/>
              </a:ext>
            </a:extLst>
          </p:cNvPr>
          <p:cNvCxnSpPr/>
          <p:nvPr/>
        </p:nvCxnSpPr>
        <p:spPr>
          <a:xfrm>
            <a:off x="1014983" y="4236912"/>
            <a:ext cx="0" cy="146304"/>
          </a:xfrm>
          <a:prstGeom prst="line">
            <a:avLst/>
          </a:prstGeom>
          <a:ln w="1587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B9E86E1B-3AF4-7334-87E7-AD677418D542}"/>
              </a:ext>
            </a:extLst>
          </p:cNvPr>
          <p:cNvCxnSpPr/>
          <p:nvPr/>
        </p:nvCxnSpPr>
        <p:spPr>
          <a:xfrm>
            <a:off x="2404872" y="4236912"/>
            <a:ext cx="0" cy="146304"/>
          </a:xfrm>
          <a:prstGeom prst="line">
            <a:avLst/>
          </a:prstGeom>
          <a:ln w="1587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7FCCC841-F249-9306-FD4A-0ABFE9449783}"/>
              </a:ext>
            </a:extLst>
          </p:cNvPr>
          <p:cNvCxnSpPr/>
          <p:nvPr/>
        </p:nvCxnSpPr>
        <p:spPr>
          <a:xfrm>
            <a:off x="3794760" y="4236912"/>
            <a:ext cx="0" cy="146304"/>
          </a:xfrm>
          <a:prstGeom prst="line">
            <a:avLst/>
          </a:prstGeom>
          <a:ln w="1587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>
            <a:extLst>
              <a:ext uri="{FF2B5EF4-FFF2-40B4-BE49-F238E27FC236}">
                <a16:creationId xmlns:a16="http://schemas.microsoft.com/office/drawing/2014/main" id="{A5470C32-13EE-6DC2-7C24-D96E74F24654}"/>
              </a:ext>
            </a:extLst>
          </p:cNvPr>
          <p:cNvCxnSpPr/>
          <p:nvPr/>
        </p:nvCxnSpPr>
        <p:spPr>
          <a:xfrm>
            <a:off x="1014983" y="4383216"/>
            <a:ext cx="2779777" cy="0"/>
          </a:xfrm>
          <a:prstGeom prst="line">
            <a:avLst/>
          </a:prstGeom>
          <a:ln w="1587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>
            <a:extLst>
              <a:ext uri="{FF2B5EF4-FFF2-40B4-BE49-F238E27FC236}">
                <a16:creationId xmlns:a16="http://schemas.microsoft.com/office/drawing/2014/main" id="{C673296D-4D80-B0DF-1CCD-8855FBD41A26}"/>
              </a:ext>
            </a:extLst>
          </p:cNvPr>
          <p:cNvCxnSpPr/>
          <p:nvPr/>
        </p:nvCxnSpPr>
        <p:spPr>
          <a:xfrm>
            <a:off x="2404872" y="4383216"/>
            <a:ext cx="0" cy="128016"/>
          </a:xfrm>
          <a:prstGeom prst="line">
            <a:avLst/>
          </a:prstGeom>
          <a:ln w="15875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29336164-77FE-D004-1AD6-4B9556697288}"/>
              </a:ext>
            </a:extLst>
          </p:cNvPr>
          <p:cNvSpPr/>
          <p:nvPr/>
        </p:nvSpPr>
        <p:spPr>
          <a:xfrm>
            <a:off x="5010912" y="1975104"/>
            <a:ext cx="1298448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10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출고 등록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9468CB3-E08A-4224-DBBF-015CF947AFF5}"/>
              </a:ext>
            </a:extLst>
          </p:cNvPr>
          <p:cNvSpPr/>
          <p:nvPr/>
        </p:nvSpPr>
        <p:spPr>
          <a:xfrm>
            <a:off x="6473952" y="1975104"/>
            <a:ext cx="1298448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10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재포장 등록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67757F7-FA15-38AD-7F31-3D6B0DC44776}"/>
              </a:ext>
            </a:extLst>
          </p:cNvPr>
          <p:cNvSpPr/>
          <p:nvPr/>
        </p:nvSpPr>
        <p:spPr>
          <a:xfrm>
            <a:off x="7936992" y="1975104"/>
            <a:ext cx="1298448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10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박스 합침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A2DB55E-D22D-43AE-541B-60710B077640}"/>
              </a:ext>
            </a:extLst>
          </p:cNvPr>
          <p:cNvSpPr/>
          <p:nvPr/>
        </p:nvSpPr>
        <p:spPr>
          <a:xfrm>
            <a:off x="6345936" y="2560320"/>
            <a:ext cx="155448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10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제품 라벨 스캔</a:t>
            </a:r>
          </a:p>
        </p:txBody>
      </p:sp>
      <p:sp>
        <p:nvSpPr>
          <p:cNvPr id="54" name="Decision 53">
            <a:extLst>
              <a:ext uri="{FF2B5EF4-FFF2-40B4-BE49-F238E27FC236}">
                <a16:creationId xmlns:a16="http://schemas.microsoft.com/office/drawing/2014/main" id="{2AA60CE4-28B3-5B82-55AB-025F01B7E10F}"/>
              </a:ext>
            </a:extLst>
          </p:cNvPr>
          <p:cNvSpPr/>
          <p:nvPr/>
        </p:nvSpPr>
        <p:spPr>
          <a:xfrm>
            <a:off x="4956048" y="3200400"/>
            <a:ext cx="2286000" cy="749808"/>
          </a:xfrm>
          <a:prstGeom prst="flowChartDecision">
            <a:avLst/>
          </a:prstGeom>
          <a:solidFill>
            <a:srgbClr val="F8FAFC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12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유효 예외인가?</a:t>
            </a:r>
          </a:p>
        </p:txBody>
      </p:sp>
      <p:sp>
        <p:nvSpPr>
          <p:cNvPr id="55" name="Decision 54">
            <a:extLst>
              <a:ext uri="{FF2B5EF4-FFF2-40B4-BE49-F238E27FC236}">
                <a16:creationId xmlns:a16="http://schemas.microsoft.com/office/drawing/2014/main" id="{EF5FCEA9-D417-1EFB-219F-23BD95DC6050}"/>
              </a:ext>
            </a:extLst>
          </p:cNvPr>
          <p:cNvSpPr/>
          <p:nvPr/>
        </p:nvSpPr>
        <p:spPr>
          <a:xfrm>
            <a:off x="4956048" y="4187952"/>
            <a:ext cx="2286000" cy="841248"/>
          </a:xfrm>
          <a:prstGeom prst="flowChartDecision">
            <a:avLst/>
          </a:prstGeom>
          <a:solidFill>
            <a:srgbClr val="F8FAFC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11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출하일 차이</a:t>
            </a:r>
          </a:p>
          <a:p>
            <a:pPr marL="0" indent="0" algn="ctr"/>
            <a:r>
              <a:rPr lang="en-US" altLang="ko-KR" sz="11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{</a:t>
            </a:r>
            <a:r>
              <a:rPr lang="ko-KR" altLang="en-US" sz="11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선입선출 기준일수</a:t>
            </a:r>
            <a:r>
              <a:rPr lang="en-US" altLang="ko-KR" sz="11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}</a:t>
            </a:r>
            <a:r>
              <a:rPr lang="ko-KR" sz="11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일 초과?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A50FA6F-44AE-AB90-7502-41B64B3D88CC}"/>
              </a:ext>
            </a:extLst>
          </p:cNvPr>
          <p:cNvSpPr/>
          <p:nvPr/>
        </p:nvSpPr>
        <p:spPr>
          <a:xfrm>
            <a:off x="7571231" y="3255264"/>
            <a:ext cx="17830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11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인터락 미발생</a:t>
            </a:r>
          </a:p>
          <a:p>
            <a:pPr marL="0" indent="0" algn="ctr"/>
            <a:r>
              <a:rPr lang="ko-KR" sz="11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정상 처리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E894824-0820-10D7-32BB-41D7FC2554EC}"/>
              </a:ext>
            </a:extLst>
          </p:cNvPr>
          <p:cNvSpPr/>
          <p:nvPr/>
        </p:nvSpPr>
        <p:spPr>
          <a:xfrm>
            <a:off x="5138928" y="5212080"/>
            <a:ext cx="19202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10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작업 인터락</a:t>
            </a:r>
          </a:p>
          <a:p>
            <a:pPr marL="0" indent="0" algn="ctr"/>
            <a:r>
              <a:rPr lang="ko-KR" sz="10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해당 작업 중단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3CEBDFF-541E-ED98-295A-4486BA1B2FFF}"/>
              </a:ext>
            </a:extLst>
          </p:cNvPr>
          <p:cNvSpPr/>
          <p:nvPr/>
        </p:nvSpPr>
        <p:spPr>
          <a:xfrm>
            <a:off x="5367528" y="5815584"/>
            <a:ext cx="1463040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8000" rIns="50000" bIns="28000" rtlCol="0" anchor="ctr"/>
          <a:lstStyle/>
          <a:p>
            <a:pPr marL="0" indent="0" algn="ctr"/>
            <a:r>
              <a:rPr lang="ko-KR" sz="1100" b="1" dirty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처리 중단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355A6A-AA26-D952-93D1-BF7C68A554CC}"/>
              </a:ext>
            </a:extLst>
          </p:cNvPr>
          <p:cNvSpPr txBox="1"/>
          <p:nvPr/>
        </p:nvSpPr>
        <p:spPr>
          <a:xfrm>
            <a:off x="7498079" y="4864608"/>
            <a:ext cx="1920240" cy="1371600"/>
          </a:xfrm>
          <a:prstGeom prst="rect">
            <a:avLst/>
          </a:prstGeom>
          <a:noFill/>
        </p:spPr>
        <p:txBody>
          <a:bodyPr wrap="square" lIns="50000" tIns="28000" rIns="50000" bIns="28000" anchor="t"/>
          <a:lstStyle/>
          <a:p>
            <a:pPr marL="0" indent="0" algn="ctr"/>
            <a:r>
              <a:rPr lang="ko-KR" sz="800" b="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유효 예외</a:t>
            </a:r>
          </a:p>
          <a:p>
            <a:pPr marL="0" indent="0" algn="ctr"/>
            <a:r>
              <a:rPr lang="ko-KR" sz="800" b="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동일 관리 키이고</a:t>
            </a:r>
          </a:p>
          <a:p>
            <a:pPr marL="0" indent="0" algn="ctr"/>
            <a:r>
              <a:rPr lang="ko-KR" sz="800" b="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DataState=Created</a:t>
            </a:r>
          </a:p>
          <a:p>
            <a:pPr marL="0" indent="0" algn="ctr"/>
            <a:r>
              <a:rPr lang="ko-KR" sz="800" b="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영구 또는 오늘≤종료일</a:t>
            </a:r>
          </a:p>
          <a:p>
            <a:pPr marL="0" indent="0" algn="ctr"/>
            <a:endParaRPr lang="ko-KR" sz="800" b="0" dirty="0">
              <a:solidFill>
                <a:srgbClr val="4B5563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/>
            <a:r>
              <a:rPr lang="en-US" altLang="ko-KR" sz="80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{</a:t>
            </a:r>
            <a:r>
              <a:rPr lang="ko-KR" altLang="en-US" sz="80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선입선출 기준일수</a:t>
            </a:r>
            <a:r>
              <a:rPr lang="en-US" altLang="ko-KR" sz="80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}</a:t>
            </a:r>
            <a:r>
              <a:rPr lang="ko-KR" sz="800" b="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일 판정</a:t>
            </a:r>
          </a:p>
          <a:p>
            <a:pPr marL="0" indent="0" algn="ctr"/>
            <a:r>
              <a:rPr lang="ko-KR" sz="800" b="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대상 공장출하일에서</a:t>
            </a:r>
          </a:p>
          <a:p>
            <a:pPr marL="0" indent="0" algn="ctr"/>
            <a:r>
              <a:rPr lang="ko-KR" sz="800" b="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같은 키 재고의</a:t>
            </a:r>
          </a:p>
          <a:p>
            <a:pPr marL="0" indent="0" algn="ctr"/>
            <a:r>
              <a:rPr lang="ko-KR" sz="800" b="0" dirty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최소 공장출하일을 뺀 값</a:t>
            </a:r>
          </a:p>
        </p:txBody>
      </p:sp>
      <p:cxnSp>
        <p:nvCxnSpPr>
          <p:cNvPr id="60" name="Connector 59">
            <a:extLst>
              <a:ext uri="{FF2B5EF4-FFF2-40B4-BE49-F238E27FC236}">
                <a16:creationId xmlns:a16="http://schemas.microsoft.com/office/drawing/2014/main" id="{380B71AA-CD89-C7BF-1D0A-2259AA967DC1}"/>
              </a:ext>
            </a:extLst>
          </p:cNvPr>
          <p:cNvCxnSpPr/>
          <p:nvPr/>
        </p:nvCxnSpPr>
        <p:spPr>
          <a:xfrm>
            <a:off x="5660136" y="2377440"/>
            <a:ext cx="0" cy="73152"/>
          </a:xfrm>
          <a:prstGeom prst="line">
            <a:avLst/>
          </a:prstGeom>
          <a:ln w="1587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>
            <a:extLst>
              <a:ext uri="{FF2B5EF4-FFF2-40B4-BE49-F238E27FC236}">
                <a16:creationId xmlns:a16="http://schemas.microsoft.com/office/drawing/2014/main" id="{9D1D7E12-1BA4-153F-F104-D92EF932BA4B}"/>
              </a:ext>
            </a:extLst>
          </p:cNvPr>
          <p:cNvCxnSpPr/>
          <p:nvPr/>
        </p:nvCxnSpPr>
        <p:spPr>
          <a:xfrm>
            <a:off x="8586216" y="2377440"/>
            <a:ext cx="0" cy="73152"/>
          </a:xfrm>
          <a:prstGeom prst="line">
            <a:avLst/>
          </a:prstGeom>
          <a:ln w="1587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5D747B7B-E37C-E31E-0F4D-DBD036D956D0}"/>
              </a:ext>
            </a:extLst>
          </p:cNvPr>
          <p:cNvCxnSpPr/>
          <p:nvPr/>
        </p:nvCxnSpPr>
        <p:spPr>
          <a:xfrm>
            <a:off x="5660136" y="2450592"/>
            <a:ext cx="2926080" cy="0"/>
          </a:xfrm>
          <a:prstGeom prst="line">
            <a:avLst/>
          </a:prstGeom>
          <a:ln w="1587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4E5AD509-519D-9ED0-6A90-0F3A57720266}"/>
              </a:ext>
            </a:extLst>
          </p:cNvPr>
          <p:cNvCxnSpPr/>
          <p:nvPr/>
        </p:nvCxnSpPr>
        <p:spPr>
          <a:xfrm>
            <a:off x="7123176" y="2450592"/>
            <a:ext cx="0" cy="109728"/>
          </a:xfrm>
          <a:prstGeom prst="line">
            <a:avLst/>
          </a:prstGeom>
          <a:ln w="15875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CA59A321-DB1D-4B3E-48BF-CCE6E408CA32}"/>
              </a:ext>
            </a:extLst>
          </p:cNvPr>
          <p:cNvCxnSpPr/>
          <p:nvPr/>
        </p:nvCxnSpPr>
        <p:spPr>
          <a:xfrm>
            <a:off x="7123176" y="2926079"/>
            <a:ext cx="0" cy="146305"/>
          </a:xfrm>
          <a:prstGeom prst="line">
            <a:avLst/>
          </a:prstGeom>
          <a:ln w="1587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>
            <a:extLst>
              <a:ext uri="{FF2B5EF4-FFF2-40B4-BE49-F238E27FC236}">
                <a16:creationId xmlns:a16="http://schemas.microsoft.com/office/drawing/2014/main" id="{3C40A769-C8ED-3A85-ED23-9819D6AB9E60}"/>
              </a:ext>
            </a:extLst>
          </p:cNvPr>
          <p:cNvCxnSpPr/>
          <p:nvPr/>
        </p:nvCxnSpPr>
        <p:spPr>
          <a:xfrm flipH="1">
            <a:off x="6099048" y="3072384"/>
            <a:ext cx="1024128" cy="0"/>
          </a:xfrm>
          <a:prstGeom prst="line">
            <a:avLst/>
          </a:prstGeom>
          <a:ln w="1587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204EF101-2B10-DCF6-49F9-B1AE5BAE7ABB}"/>
              </a:ext>
            </a:extLst>
          </p:cNvPr>
          <p:cNvCxnSpPr/>
          <p:nvPr/>
        </p:nvCxnSpPr>
        <p:spPr>
          <a:xfrm>
            <a:off x="6099048" y="3072384"/>
            <a:ext cx="0" cy="128016"/>
          </a:xfrm>
          <a:prstGeom prst="line">
            <a:avLst/>
          </a:prstGeom>
          <a:ln w="15875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16614F0-8004-CE1E-9EC3-2B8D5AC8229D}"/>
              </a:ext>
            </a:extLst>
          </p:cNvPr>
          <p:cNvSpPr txBox="1"/>
          <p:nvPr/>
        </p:nvSpPr>
        <p:spPr>
          <a:xfrm>
            <a:off x="7251192" y="3374136"/>
            <a:ext cx="256032" cy="182880"/>
          </a:xfrm>
          <a:prstGeom prst="rect">
            <a:avLst/>
          </a:prstGeom>
          <a:noFill/>
        </p:spPr>
        <p:txBody>
          <a:bodyPr wrap="square" lIns="50000" tIns="28000" rIns="50000" bIns="28000" anchor="ctr"/>
          <a:lstStyle/>
          <a:p>
            <a:pPr marL="0" indent="0" algn="ctr"/>
            <a:r>
              <a:rPr lang="ko-KR" sz="90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</p:txBody>
      </p:sp>
      <p:cxnSp>
        <p:nvCxnSpPr>
          <p:cNvPr id="68" name="Connector 67">
            <a:extLst>
              <a:ext uri="{FF2B5EF4-FFF2-40B4-BE49-F238E27FC236}">
                <a16:creationId xmlns:a16="http://schemas.microsoft.com/office/drawing/2014/main" id="{48C005FC-23AD-ED22-4BC0-D805906F9F8F}"/>
              </a:ext>
            </a:extLst>
          </p:cNvPr>
          <p:cNvCxnSpPr/>
          <p:nvPr/>
        </p:nvCxnSpPr>
        <p:spPr>
          <a:xfrm>
            <a:off x="7242048" y="3575304"/>
            <a:ext cx="329183" cy="0"/>
          </a:xfrm>
          <a:prstGeom prst="line">
            <a:avLst/>
          </a:prstGeom>
          <a:ln w="15875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ED52169-DA17-84E6-701F-34B35A7B8AE1}"/>
              </a:ext>
            </a:extLst>
          </p:cNvPr>
          <p:cNvSpPr txBox="1"/>
          <p:nvPr/>
        </p:nvSpPr>
        <p:spPr>
          <a:xfrm>
            <a:off x="6172200" y="3941064"/>
            <a:ext cx="475488" cy="182880"/>
          </a:xfrm>
          <a:prstGeom prst="rect">
            <a:avLst/>
          </a:prstGeom>
          <a:noFill/>
        </p:spPr>
        <p:txBody>
          <a:bodyPr wrap="square" lIns="50000" tIns="28000" rIns="50000" bIns="28000" anchor="ctr"/>
          <a:lstStyle/>
          <a:p>
            <a:pPr marL="0" indent="0" algn="ctr"/>
            <a:r>
              <a:rPr lang="ko-KR" sz="90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아니오</a:t>
            </a:r>
          </a:p>
        </p:txBody>
      </p: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679D58DA-4674-6177-3D6E-3D201470624B}"/>
              </a:ext>
            </a:extLst>
          </p:cNvPr>
          <p:cNvCxnSpPr/>
          <p:nvPr/>
        </p:nvCxnSpPr>
        <p:spPr>
          <a:xfrm>
            <a:off x="6099048" y="3950208"/>
            <a:ext cx="0" cy="237744"/>
          </a:xfrm>
          <a:prstGeom prst="line">
            <a:avLst/>
          </a:prstGeom>
          <a:ln w="15875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6BD2D64-003E-D2DF-F001-86E3BC4A50FB}"/>
              </a:ext>
            </a:extLst>
          </p:cNvPr>
          <p:cNvSpPr txBox="1"/>
          <p:nvPr/>
        </p:nvSpPr>
        <p:spPr>
          <a:xfrm>
            <a:off x="7260336" y="4389120"/>
            <a:ext cx="475488" cy="182880"/>
          </a:xfrm>
          <a:prstGeom prst="rect">
            <a:avLst/>
          </a:prstGeom>
          <a:noFill/>
        </p:spPr>
        <p:txBody>
          <a:bodyPr wrap="square" lIns="50000" tIns="28000" rIns="50000" bIns="28000" anchor="ctr"/>
          <a:lstStyle/>
          <a:p>
            <a:pPr marL="0" indent="0" algn="ctr"/>
            <a:r>
              <a:rPr lang="ko-KR" sz="90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아니오</a:t>
            </a:r>
          </a:p>
        </p:txBody>
      </p:sp>
      <p:cxnSp>
        <p:nvCxnSpPr>
          <p:cNvPr id="72" name="Connector 71">
            <a:extLst>
              <a:ext uri="{FF2B5EF4-FFF2-40B4-BE49-F238E27FC236}">
                <a16:creationId xmlns:a16="http://schemas.microsoft.com/office/drawing/2014/main" id="{C1785442-B1C6-9491-6051-55FD53C1070C}"/>
              </a:ext>
            </a:extLst>
          </p:cNvPr>
          <p:cNvCxnSpPr/>
          <p:nvPr/>
        </p:nvCxnSpPr>
        <p:spPr>
          <a:xfrm>
            <a:off x="7242048" y="4608576"/>
            <a:ext cx="1220724" cy="0"/>
          </a:xfrm>
          <a:prstGeom prst="line">
            <a:avLst/>
          </a:prstGeom>
          <a:ln w="1587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>
            <a:extLst>
              <a:ext uri="{FF2B5EF4-FFF2-40B4-BE49-F238E27FC236}">
                <a16:creationId xmlns:a16="http://schemas.microsoft.com/office/drawing/2014/main" id="{4BF2EAA6-97C7-440E-B7DC-3E25B437A9C8}"/>
              </a:ext>
            </a:extLst>
          </p:cNvPr>
          <p:cNvCxnSpPr/>
          <p:nvPr/>
        </p:nvCxnSpPr>
        <p:spPr>
          <a:xfrm flipV="1">
            <a:off x="8462772" y="3895344"/>
            <a:ext cx="0" cy="713232"/>
          </a:xfrm>
          <a:prstGeom prst="line">
            <a:avLst/>
          </a:prstGeom>
          <a:ln w="15875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286A1872-D0C0-9C1A-D40D-371A0C6C966D}"/>
              </a:ext>
            </a:extLst>
          </p:cNvPr>
          <p:cNvSpPr txBox="1"/>
          <p:nvPr/>
        </p:nvSpPr>
        <p:spPr>
          <a:xfrm>
            <a:off x="6172200" y="5020056"/>
            <a:ext cx="256032" cy="182880"/>
          </a:xfrm>
          <a:prstGeom prst="rect">
            <a:avLst/>
          </a:prstGeom>
          <a:noFill/>
        </p:spPr>
        <p:txBody>
          <a:bodyPr wrap="square" lIns="50000" tIns="28000" rIns="50000" bIns="28000" anchor="ctr"/>
          <a:lstStyle/>
          <a:p>
            <a:pPr marL="0" indent="0" algn="ctr"/>
            <a:r>
              <a:rPr lang="ko-KR" sz="900" b="1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</p:txBody>
      </p:sp>
      <p:cxnSp>
        <p:nvCxnSpPr>
          <p:cNvPr id="75" name="Connector 74">
            <a:extLst>
              <a:ext uri="{FF2B5EF4-FFF2-40B4-BE49-F238E27FC236}">
                <a16:creationId xmlns:a16="http://schemas.microsoft.com/office/drawing/2014/main" id="{8C04BC41-F031-868A-D088-D0489D91FD43}"/>
              </a:ext>
            </a:extLst>
          </p:cNvPr>
          <p:cNvCxnSpPr/>
          <p:nvPr/>
        </p:nvCxnSpPr>
        <p:spPr>
          <a:xfrm>
            <a:off x="6099048" y="5029200"/>
            <a:ext cx="0" cy="182880"/>
          </a:xfrm>
          <a:prstGeom prst="line">
            <a:avLst/>
          </a:prstGeom>
          <a:ln w="15875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>
            <a:extLst>
              <a:ext uri="{FF2B5EF4-FFF2-40B4-BE49-F238E27FC236}">
                <a16:creationId xmlns:a16="http://schemas.microsoft.com/office/drawing/2014/main" id="{F51E87BB-B084-2C2F-D77F-4CACBE2A9A55}"/>
              </a:ext>
            </a:extLst>
          </p:cNvPr>
          <p:cNvCxnSpPr/>
          <p:nvPr/>
        </p:nvCxnSpPr>
        <p:spPr>
          <a:xfrm>
            <a:off x="6099048" y="5687568"/>
            <a:ext cx="0" cy="128016"/>
          </a:xfrm>
          <a:prstGeom prst="line">
            <a:avLst/>
          </a:prstGeom>
          <a:ln w="15875">
            <a:solidFill>
              <a:srgbClr val="374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Google Shape;148;p15">
            <a:extLst>
              <a:ext uri="{FF2B5EF4-FFF2-40B4-BE49-F238E27FC236}">
                <a16:creationId xmlns:a16="http://schemas.microsoft.com/office/drawing/2014/main" id="{EB5139E5-20D6-8223-7E81-7FD60E88E3F4}"/>
              </a:ext>
            </a:extLst>
          </p:cNvPr>
          <p:cNvSpPr/>
          <p:nvPr/>
        </p:nvSpPr>
        <p:spPr>
          <a:xfrm>
            <a:off x="234191" y="5744841"/>
            <a:ext cx="4500637" cy="617243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43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149;p15">
            <a:extLst>
              <a:ext uri="{FF2B5EF4-FFF2-40B4-BE49-F238E27FC236}">
                <a16:creationId xmlns:a16="http://schemas.microsoft.com/office/drawing/2014/main" id="{1FA89A16-4E40-D132-0E89-B336E57DCE49}"/>
              </a:ext>
            </a:extLst>
          </p:cNvPr>
          <p:cNvSpPr txBox="1"/>
          <p:nvPr/>
        </p:nvSpPr>
        <p:spPr>
          <a:xfrm>
            <a:off x="368487" y="5709290"/>
            <a:ext cx="4197069" cy="269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altLang="ko" sz="1100" b="1" dirty="0">
                <a:solidFill>
                  <a:schemeClr val="accent4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ko" sz="1100" b="1" dirty="0">
                <a:solidFill>
                  <a:schemeClr val="accent4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1" dirty="0">
                <a:solidFill>
                  <a:schemeClr val="accent4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선입선출 기준일수 관리</a:t>
            </a:r>
          </a:p>
        </p:txBody>
      </p:sp>
    </p:spTree>
    <p:extLst>
      <p:ext uri="{BB962C8B-B14F-4D97-AF65-F5344CB8AC3E}">
        <p14:creationId xmlns:p14="http://schemas.microsoft.com/office/powerpoint/2010/main" val="1410096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EDA16-99CE-BB69-F256-EEEB6247F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 0">
            <a:extLst>
              <a:ext uri="{FF2B5EF4-FFF2-40B4-BE49-F238E27FC236}">
                <a16:creationId xmlns:a16="http://schemas.microsoft.com/office/drawing/2014/main" id="{3FE2A35D-8373-7194-39EC-83E3220741BB}"/>
              </a:ext>
            </a:extLst>
          </p:cNvPr>
          <p:cNvSpPr txBox="1">
            <a:spLocks/>
          </p:cNvSpPr>
          <p:nvPr/>
        </p:nvSpPr>
        <p:spPr>
          <a:xfrm>
            <a:off x="274376" y="180298"/>
            <a:ext cx="7592604" cy="4921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lang="en-US" altLang="ko-KR" sz="3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1. To-be</a:t>
            </a:r>
            <a:r>
              <a:rPr lang="ko-KR" altLang="en-US" sz="3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3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Process </a:t>
            </a:r>
            <a:r>
              <a:rPr lang="en-US" altLang="ko-KR" sz="2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: </a:t>
            </a:r>
            <a:r>
              <a:rPr lang="ko-KR" altLang="en-US" sz="2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선입선출관리</a:t>
            </a:r>
          </a:p>
        </p:txBody>
      </p:sp>
      <p:graphicFrame>
        <p:nvGraphicFramePr>
          <p:cNvPr id="3" name="Table 37">
            <a:extLst>
              <a:ext uri="{FF2B5EF4-FFF2-40B4-BE49-F238E27FC236}">
                <a16:creationId xmlns:a16="http://schemas.microsoft.com/office/drawing/2014/main" id="{F4124CEF-C732-2DC7-E7CE-5350BB98DD4E}"/>
              </a:ext>
            </a:extLst>
          </p:cNvPr>
          <p:cNvGraphicFramePr>
            <a:graphicFrameLocks noGrp="1"/>
          </p:cNvGraphicFramePr>
          <p:nvPr/>
        </p:nvGraphicFramePr>
        <p:xfrm>
          <a:off x="200472" y="889392"/>
          <a:ext cx="9493679" cy="487680"/>
        </p:xfrm>
        <a:graphic>
          <a:graphicData uri="http://schemas.openxmlformats.org/drawingml/2006/table">
            <a:tbl>
              <a:tblPr/>
              <a:tblGrid>
                <a:gridCol w="1643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 b="1" dirty="0">
                          <a:solidFill>
                            <a:prstClr val="black"/>
                          </a:solidFill>
                          <a:latin typeface="+mn-lt"/>
                          <a:ea typeface="+mn-ea"/>
                        </a:rPr>
                        <a:t>Process ID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P15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 b="1" dirty="0">
                          <a:solidFill>
                            <a:prstClr val="black"/>
                          </a:solidFill>
                          <a:latin typeface="+mn-lt"/>
                          <a:ea typeface="+mn-ea"/>
                        </a:rPr>
                        <a:t>Process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1" dirty="0">
                          <a:latin typeface="+mn-lt"/>
                          <a:ea typeface="+mn-ea"/>
                        </a:rPr>
                        <a:t>물류창고관리</a:t>
                      </a:r>
                      <a:endParaRPr lang="en-US" altLang="ko-KR" sz="1000" b="1" dirty="0">
                        <a:latin typeface="+mn-lt"/>
                        <a:ea typeface="+mn-ea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Objective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선입선출 통제 및 예외 해제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rebuchet MS" pitchFamily="34" charset="0"/>
                        <a:ea typeface="+mn-ea"/>
                      </a:endParaRPr>
                    </a:p>
                  </a:txBody>
                  <a:tcPr marT="91440" marB="9144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A599BD05-3745-4456-3AC7-D38C1126C673}"/>
              </a:ext>
            </a:extLst>
          </p:cNvPr>
          <p:cNvSpPr txBox="1"/>
          <p:nvPr/>
        </p:nvSpPr>
        <p:spPr>
          <a:xfrm>
            <a:off x="7797255" y="364743"/>
            <a:ext cx="2005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u="sng" dirty="0">
                <a:solidFill>
                  <a:schemeClr val="bg1">
                    <a:lumMod val="65000"/>
                  </a:schemeClr>
                </a:solidFill>
              </a:rPr>
              <a:t>2. To-be</a:t>
            </a:r>
            <a:r>
              <a:rPr lang="ko-KR" altLang="en-US" b="1" i="1" u="sng" dirty="0">
                <a:solidFill>
                  <a:schemeClr val="bg1">
                    <a:lumMod val="65000"/>
                  </a:schemeClr>
                </a:solidFill>
              </a:rPr>
              <a:t>프로세스</a:t>
            </a:r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2847AD19-2C99-A47E-785D-9AFB00B2193D}"/>
              </a:ext>
            </a:extLst>
          </p:cNvPr>
          <p:cNvSpPr/>
          <p:nvPr/>
        </p:nvSpPr>
        <p:spPr bwMode="auto">
          <a:xfrm>
            <a:off x="201892" y="1672285"/>
            <a:ext cx="3200493" cy="4607585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solidFill>
                <a:prstClr val="black"/>
              </a:solidFill>
            </a:endParaRPr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8CC65523-9609-D19D-8B1C-E4CFAE1C31CA}"/>
              </a:ext>
            </a:extLst>
          </p:cNvPr>
          <p:cNvSpPr/>
          <p:nvPr/>
        </p:nvSpPr>
        <p:spPr bwMode="auto">
          <a:xfrm>
            <a:off x="3586171" y="1675326"/>
            <a:ext cx="6107979" cy="460454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solidFill>
                <a:prstClr val="black"/>
              </a:solidFill>
            </a:endParaRPr>
          </a:p>
        </p:txBody>
      </p:sp>
      <p:sp>
        <p:nvSpPr>
          <p:cNvPr id="25" name="사각형: 둥근 모서리 453">
            <a:extLst>
              <a:ext uri="{FF2B5EF4-FFF2-40B4-BE49-F238E27FC236}">
                <a16:creationId xmlns:a16="http://schemas.microsoft.com/office/drawing/2014/main" id="{05BBC6D5-C19B-4655-ED77-2E05128DD104}"/>
              </a:ext>
            </a:extLst>
          </p:cNvPr>
          <p:cNvSpPr/>
          <p:nvPr/>
        </p:nvSpPr>
        <p:spPr>
          <a:xfrm>
            <a:off x="200472" y="1422525"/>
            <a:ext cx="3201913" cy="294121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기준정보</a:t>
            </a:r>
            <a:r>
              <a:rPr lang="en-US" altLang="ko-KR" sz="1000" b="1" dirty="0"/>
              <a:t/>
            </a:r>
            <a:endParaRPr lang="ko-KR" altLang="en-US" sz="1000" b="1" dirty="0"/>
          </a:p>
        </p:txBody>
      </p:sp>
      <p:sp>
        <p:nvSpPr>
          <p:cNvPr id="26" name="사각형: 둥근 모서리 212">
            <a:extLst>
              <a:ext uri="{FF2B5EF4-FFF2-40B4-BE49-F238E27FC236}">
                <a16:creationId xmlns:a16="http://schemas.microsoft.com/office/drawing/2014/main" id="{7CC2FB75-0EFD-4414-CB14-07FCC2C6E1CE}"/>
              </a:ext>
            </a:extLst>
          </p:cNvPr>
          <p:cNvSpPr/>
          <p:nvPr/>
        </p:nvSpPr>
        <p:spPr>
          <a:xfrm>
            <a:off x="3584208" y="1410754"/>
            <a:ext cx="6110642" cy="294121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/>
              <a:t>오산 물류창고</a:t>
            </a:r>
            <a:r>
              <a:rPr lang="ko-KR" altLang="en-US" sz="1000" b="1" dirty="0"/>
              <a:t/>
            </a:r>
          </a:p>
        </p:txBody>
      </p:sp>
      <p:grpSp>
        <p:nvGrpSpPr>
          <p:cNvPr id="27" name="그룹 565">
            <a:extLst>
              <a:ext uri="{FF2B5EF4-FFF2-40B4-BE49-F238E27FC236}">
                <a16:creationId xmlns:a16="http://schemas.microsoft.com/office/drawing/2014/main" id="{4885BCA0-AC8A-31CA-2374-B3D7B27BCA67}"/>
              </a:ext>
            </a:extLst>
          </p:cNvPr>
          <p:cNvGrpSpPr/>
          <p:nvPr/>
        </p:nvGrpSpPr>
        <p:grpSpPr>
          <a:xfrm>
            <a:off x="430000" y="1880000"/>
            <a:ext cx="1005374" cy="591993"/>
            <a:chOff x="488505" y="1773530"/>
            <a:chExt cx="1088932" cy="576056"/>
          </a:xfrm>
        </p:grpSpPr>
        <p:sp>
          <p:nvSpPr>
            <p:cNvPr id="28" name="Rectangle 133">
              <a:extLst>
                <a:ext uri="{FF2B5EF4-FFF2-40B4-BE49-F238E27FC236}">
                  <a16:creationId xmlns:a16="http://schemas.microsoft.com/office/drawing/2014/main" id="{E5DBFF0C-2926-6087-B45A-B5BEEF331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505" y="1773530"/>
              <a:ext cx="1088932" cy="57605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ln w="6350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lIns="54000" tIns="90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r>
                <a:rPr lang="ko-KR" altLang="en-US" sz="900" b="1" kern="0" dirty="0">
                  <a:solidFill>
                    <a:srgbClr val="1F497D">
                      <a:lumMod val="50000"/>
                    </a:srgbClr>
                  </a:solidFill>
                  <a:latin typeface="+mj-ea"/>
                  <a:ea typeface="+mj-ea"/>
                  <a:cs typeface="Arial" charset="0"/>
                </a:rPr>
                <a:t>선입선출 일수</a:t>
              </a: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29" name="Rectangle 134">
              <a:extLst>
                <a:ext uri="{FF2B5EF4-FFF2-40B4-BE49-F238E27FC236}">
                  <a16:creationId xmlns:a16="http://schemas.microsoft.com/office/drawing/2014/main" id="{262CC664-18F7-1145-6F50-FFB2A6D94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481" y="1797162"/>
              <a:ext cx="753191" cy="141738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66"/>
                    </a:outerShdw>
                  </a:effectLst>
                </a14:hiddenEffects>
              </a:ext>
            </a:extLst>
          </p:spPr>
          <p:txBody>
            <a:bodyPr lIns="54000" tIns="18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  <a:defRPr/>
              </a:pPr>
              <a:r>
                <a:rPr lang="ko-KR" altLang="en-US" sz="900" kern="0" dirty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물류창고</a:t>
              </a:r>
              <a:endParaRPr lang="en-US" altLang="ko-KR" sz="900" kern="0" dirty="0">
                <a:solidFill>
                  <a:srgbClr val="000000"/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30" name="Rectangle 164">
              <a:extLst>
                <a:ext uri="{FF2B5EF4-FFF2-40B4-BE49-F238E27FC236}">
                  <a16:creationId xmlns:a16="http://schemas.microsoft.com/office/drawing/2014/main" id="{B52C664C-55FF-BF38-BD0C-F99041238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00" y="1797162"/>
              <a:ext cx="285069" cy="14173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lIns="36000" rIns="36000" anchor="ctr" anchorCtr="1"/>
            <a:lstStyle/>
            <a:p>
              <a:pPr marL="88900" indent="-88900" latinLnBrk="0">
                <a:spcBef>
                  <a:spcPct val="50000"/>
                </a:spcBef>
                <a:buClr>
                  <a:srgbClr val="006699"/>
                </a:buClr>
                <a:defRPr/>
              </a:pPr>
              <a:r>
                <a:rPr lang="en-US" altLang="ko-KR" sz="800" b="1" kern="0" dirty="0">
                  <a:solidFill>
                    <a:prstClr val="white"/>
                  </a:solidFill>
                  <a:latin typeface="+mj-ea"/>
                  <a:ea typeface="+mj-ea"/>
                  <a:cs typeface="Arial" charset="0"/>
                </a:rPr>
                <a:t>1.1</a:t>
              </a:r>
            </a:p>
          </p:txBody>
        </p:sp>
      </p:grpSp>
      <p:grpSp>
        <p:nvGrpSpPr>
          <p:cNvPr id="31" name="그룹 551">
            <a:extLst>
              <a:ext uri="{FF2B5EF4-FFF2-40B4-BE49-F238E27FC236}">
                <a16:creationId xmlns:a16="http://schemas.microsoft.com/office/drawing/2014/main" id="{49D59CCB-27D3-2CB4-9702-54C178246D9F}"/>
              </a:ext>
            </a:extLst>
          </p:cNvPr>
          <p:cNvGrpSpPr/>
          <p:nvPr/>
        </p:nvGrpSpPr>
        <p:grpSpPr>
          <a:xfrm>
            <a:off x="1280000" y="1980000"/>
            <a:ext cx="415498" cy="312259"/>
            <a:chOff x="6376941" y="5722781"/>
            <a:chExt cx="415498" cy="312259"/>
          </a:xfrm>
        </p:grpSpPr>
        <p:sp>
          <p:nvSpPr>
            <p:cNvPr id="32" name="십각형 549">
              <a:extLst>
                <a:ext uri="{FF2B5EF4-FFF2-40B4-BE49-F238E27FC236}">
                  <a16:creationId xmlns:a16="http://schemas.microsoft.com/office/drawing/2014/main" id="{593D9BE5-85BC-35DD-5624-190D44BF6BA1}"/>
                </a:ext>
              </a:extLst>
            </p:cNvPr>
            <p:cNvSpPr/>
            <p:nvPr/>
          </p:nvSpPr>
          <p:spPr>
            <a:xfrm>
              <a:off x="6411052" y="5722781"/>
              <a:ext cx="338091" cy="312259"/>
            </a:xfrm>
            <a:prstGeom prst="decagon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b="1">
                <a:solidFill>
                  <a:schemeClr val="tx1"/>
                </a:solidFill>
              </a:endParaRPr>
            </a:p>
          </p:txBody>
        </p:sp>
        <p:sp>
          <p:nvSpPr>
            <p:cNvPr id="33" name="TextBox 550">
              <a:extLst>
                <a:ext uri="{FF2B5EF4-FFF2-40B4-BE49-F238E27FC236}">
                  <a16:creationId xmlns:a16="http://schemas.microsoft.com/office/drawing/2014/main" id="{DA34DC68-94D3-B2DB-170B-F1A7FD69C0C3}"/>
                </a:ext>
              </a:extLst>
            </p:cNvPr>
            <p:cNvSpPr txBox="1"/>
            <p:nvPr/>
          </p:nvSpPr>
          <p:spPr>
            <a:xfrm>
              <a:off x="6376941" y="576450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개발</a:t>
              </a:r>
            </a:p>
          </p:txBody>
        </p:sp>
      </p:grpSp>
      <p:grpSp>
        <p:nvGrpSpPr>
          <p:cNvPr id="34" name="그룹 565">
            <a:extLst>
              <a:ext uri="{FF2B5EF4-FFF2-40B4-BE49-F238E27FC236}">
                <a16:creationId xmlns:a16="http://schemas.microsoft.com/office/drawing/2014/main" id="{4885BCA0-AC8A-31CA-2374-B3D7B27BCA67}"/>
              </a:ext>
            </a:extLst>
          </p:cNvPr>
          <p:cNvGrpSpPr/>
          <p:nvPr/>
        </p:nvGrpSpPr>
        <p:grpSpPr>
          <a:xfrm>
            <a:off x="430000" y="4000000"/>
            <a:ext cx="1005374" cy="591993"/>
            <a:chOff x="488505" y="1773530"/>
            <a:chExt cx="1088932" cy="576056"/>
          </a:xfrm>
        </p:grpSpPr>
        <p:sp>
          <p:nvSpPr>
            <p:cNvPr id="35" name="Rectangle 133">
              <a:extLst>
                <a:ext uri="{FF2B5EF4-FFF2-40B4-BE49-F238E27FC236}">
                  <a16:creationId xmlns:a16="http://schemas.microsoft.com/office/drawing/2014/main" id="{E5DBFF0C-2926-6087-B45A-B5BEEF331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505" y="1773530"/>
              <a:ext cx="1088932" cy="57605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ln w="6350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lIns="54000" tIns="90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r>
                <a:rPr lang="ko-KR" altLang="en-US" sz="900" b="1" kern="0" dirty="0">
                  <a:solidFill>
                    <a:srgbClr val="1F497D">
                      <a:lumMod val="50000"/>
                    </a:srgbClr>
                  </a:solidFill>
                  <a:latin typeface="+mj-ea"/>
                  <a:ea typeface="+mj-ea"/>
                  <a:cs typeface="Arial" charset="0"/>
                </a:rPr>
                <a:t>무시 기준정보</a:t>
              </a: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36" name="Rectangle 134">
              <a:extLst>
                <a:ext uri="{FF2B5EF4-FFF2-40B4-BE49-F238E27FC236}">
                  <a16:creationId xmlns:a16="http://schemas.microsoft.com/office/drawing/2014/main" id="{262CC664-18F7-1145-6F50-FFB2A6D94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481" y="1797162"/>
              <a:ext cx="753191" cy="141738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66"/>
                    </a:outerShdw>
                  </a:effectLst>
                </a14:hiddenEffects>
              </a:ext>
            </a:extLst>
          </p:spPr>
          <p:txBody>
            <a:bodyPr lIns="54000" tIns="18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  <a:defRPr/>
              </a:pPr>
              <a:r>
                <a:rPr lang="ko-KR" altLang="en-US" sz="900" kern="0" dirty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물류창고</a:t>
              </a:r>
              <a:endParaRPr lang="en-US" altLang="ko-KR" sz="900" kern="0" dirty="0">
                <a:solidFill>
                  <a:srgbClr val="000000"/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37" name="Rectangle 164">
              <a:extLst>
                <a:ext uri="{FF2B5EF4-FFF2-40B4-BE49-F238E27FC236}">
                  <a16:creationId xmlns:a16="http://schemas.microsoft.com/office/drawing/2014/main" id="{B52C664C-55FF-BF38-BD0C-F99041238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00" y="1797162"/>
              <a:ext cx="285069" cy="14173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lIns="36000" rIns="36000" anchor="ctr" anchorCtr="1"/>
            <a:lstStyle/>
            <a:p>
              <a:pPr marL="88900" indent="-88900" latinLnBrk="0">
                <a:spcBef>
                  <a:spcPct val="50000"/>
                </a:spcBef>
                <a:buClr>
                  <a:srgbClr val="006699"/>
                </a:buClr>
                <a:defRPr/>
              </a:pPr>
              <a:r>
                <a:rPr lang="en-US" altLang="ko-KR" sz="800" b="1" kern="0" dirty="0">
                  <a:solidFill>
                    <a:prstClr val="white"/>
                  </a:solidFill>
                  <a:latin typeface="+mj-ea"/>
                  <a:ea typeface="+mj-ea"/>
                  <a:cs typeface="Arial" charset="0"/>
                </a:rPr>
                <a:t>1.2</a:t>
              </a:r>
            </a:p>
          </p:txBody>
        </p:sp>
      </p:grpSp>
      <p:grpSp>
        <p:nvGrpSpPr>
          <p:cNvPr id="38" name="그룹 551">
            <a:extLst>
              <a:ext uri="{FF2B5EF4-FFF2-40B4-BE49-F238E27FC236}">
                <a16:creationId xmlns:a16="http://schemas.microsoft.com/office/drawing/2014/main" id="{49D59CCB-27D3-2CB4-9702-54C178246D9F}"/>
              </a:ext>
            </a:extLst>
          </p:cNvPr>
          <p:cNvGrpSpPr/>
          <p:nvPr/>
        </p:nvGrpSpPr>
        <p:grpSpPr>
          <a:xfrm>
            <a:off x="1280000" y="4100000"/>
            <a:ext cx="415498" cy="312259"/>
            <a:chOff x="6376941" y="5722781"/>
            <a:chExt cx="415498" cy="312259"/>
          </a:xfrm>
        </p:grpSpPr>
        <p:sp>
          <p:nvSpPr>
            <p:cNvPr id="39" name="십각형 549">
              <a:extLst>
                <a:ext uri="{FF2B5EF4-FFF2-40B4-BE49-F238E27FC236}">
                  <a16:creationId xmlns:a16="http://schemas.microsoft.com/office/drawing/2014/main" id="{593D9BE5-85BC-35DD-5624-190D44BF6BA1}"/>
                </a:ext>
              </a:extLst>
            </p:cNvPr>
            <p:cNvSpPr/>
            <p:nvPr/>
          </p:nvSpPr>
          <p:spPr>
            <a:xfrm>
              <a:off x="6411052" y="5722781"/>
              <a:ext cx="338091" cy="312259"/>
            </a:xfrm>
            <a:prstGeom prst="decagon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b="1">
                <a:solidFill>
                  <a:schemeClr val="tx1"/>
                </a:solidFill>
              </a:endParaRPr>
            </a:p>
          </p:txBody>
        </p:sp>
        <p:sp>
          <p:nvSpPr>
            <p:cNvPr id="40" name="TextBox 550">
              <a:extLst>
                <a:ext uri="{FF2B5EF4-FFF2-40B4-BE49-F238E27FC236}">
                  <a16:creationId xmlns:a16="http://schemas.microsoft.com/office/drawing/2014/main" id="{DA34DC68-94D3-B2DB-170B-F1A7FD69C0C3}"/>
                </a:ext>
              </a:extLst>
            </p:cNvPr>
            <p:cNvSpPr txBox="1"/>
            <p:nvPr/>
          </p:nvSpPr>
          <p:spPr>
            <a:xfrm>
              <a:off x="6376941" y="576450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개발</a:t>
              </a:r>
            </a:p>
          </p:txBody>
        </p:sp>
      </p:grpSp>
      <p:sp>
        <p:nvSpPr>
          <p:cNvPr id="41" name="AutoShape 952">
            <a:extLst>
              <a:ext uri="{FF2B5EF4-FFF2-40B4-BE49-F238E27FC236}">
                <a16:creationId xmlns:a16="http://schemas.microsoft.com/office/drawing/2014/main" id="{BFBDBAEC-EC64-7AB3-3D4C-97848E3E0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0000" y="1860000"/>
            <a:ext cx="2750000" cy="980000"/>
          </a:xfrm>
          <a:prstGeom prst="roundRect">
            <a:avLst>
              <a:gd name="adj" fmla="val 2551"/>
            </a:avLst>
          </a:prstGeom>
          <a:noFill/>
          <a:ln w="9525">
            <a:solidFill>
              <a:srgbClr val="0070C0"/>
            </a:solidFill>
            <a:prstDash val="sysDash"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rIns="36000" anchor="t" anchorCtr="0"/>
          <a:lstStyle/>
          <a:p>
            <a:pPr lvl="0" latinLnBrk="0">
              <a:defRPr/>
            </a:pPr>
            <a:endParaRPr kumimoji="0" lang="en-US" altLang="ko-KR" sz="900" b="1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2" name="AutoShape 952">
            <a:extLst>
              <a:ext uri="{FF2B5EF4-FFF2-40B4-BE49-F238E27FC236}">
                <a16:creationId xmlns:a16="http://schemas.microsoft.com/office/drawing/2014/main" id="{BFBDBAEC-EC64-7AB3-3D4C-97848E3E0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0000" y="1860000"/>
            <a:ext cx="2800000" cy="980000"/>
          </a:xfrm>
          <a:prstGeom prst="roundRect">
            <a:avLst>
              <a:gd name="adj" fmla="val 2551"/>
            </a:avLst>
          </a:prstGeom>
          <a:noFill/>
          <a:ln w="9525">
            <a:solidFill>
              <a:srgbClr val="0070C0"/>
            </a:solidFill>
            <a:prstDash val="sysDash"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rIns="36000" anchor="t" anchorCtr="0"/>
          <a:lstStyle/>
          <a:p>
            <a:pPr lvl="0" latinLnBrk="0">
              <a:defRPr/>
            </a:pPr>
            <a:endParaRPr kumimoji="0" lang="en-US" altLang="ko-KR" sz="900" b="1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pSp>
        <p:nvGrpSpPr>
          <p:cNvPr id="43" name="그룹 565">
            <a:extLst>
              <a:ext uri="{FF2B5EF4-FFF2-40B4-BE49-F238E27FC236}">
                <a16:creationId xmlns:a16="http://schemas.microsoft.com/office/drawing/2014/main" id="{4885BCA0-AC8A-31CA-2374-B3D7B27BCA67}"/>
              </a:ext>
            </a:extLst>
          </p:cNvPr>
          <p:cNvGrpSpPr/>
          <p:nvPr/>
        </p:nvGrpSpPr>
        <p:grpSpPr>
          <a:xfrm>
            <a:off x="4000000" y="3180000"/>
            <a:ext cx="1005374" cy="591993"/>
            <a:chOff x="488505" y="1773530"/>
            <a:chExt cx="1088932" cy="576056"/>
          </a:xfrm>
        </p:grpSpPr>
        <p:sp>
          <p:nvSpPr>
            <p:cNvPr id="44" name="Rectangle 133">
              <a:extLst>
                <a:ext uri="{FF2B5EF4-FFF2-40B4-BE49-F238E27FC236}">
                  <a16:creationId xmlns:a16="http://schemas.microsoft.com/office/drawing/2014/main" id="{E5DBFF0C-2926-6087-B45A-B5BEEF331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505" y="1773530"/>
              <a:ext cx="1088932" cy="57605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ln w="6350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lIns="54000" tIns="90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r>
                <a:rPr lang="ko-KR" altLang="en-US" sz="900" b="1" kern="0" dirty="0">
                  <a:solidFill>
                    <a:srgbClr val="1F497D">
                      <a:lumMod val="50000"/>
                    </a:srgbClr>
                  </a:solidFill>
                  <a:latin typeface="+mj-ea"/>
                  <a:ea typeface="+mj-ea"/>
                  <a:cs typeface="Arial" charset="0"/>
                </a:rPr>
                <a:t>출고 등록</a:t>
              </a: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45" name="Rectangle 134">
              <a:extLst>
                <a:ext uri="{FF2B5EF4-FFF2-40B4-BE49-F238E27FC236}">
                  <a16:creationId xmlns:a16="http://schemas.microsoft.com/office/drawing/2014/main" id="{262CC664-18F7-1145-6F50-FFB2A6D94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481" y="1797162"/>
              <a:ext cx="753191" cy="141738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66"/>
                    </a:outerShdw>
                  </a:effectLst>
                </a14:hiddenEffects>
              </a:ext>
            </a:extLst>
          </p:spPr>
          <p:txBody>
            <a:bodyPr lIns="54000" tIns="18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  <a:defRPr/>
              </a:pPr>
              <a:r>
                <a:rPr lang="ko-KR" altLang="en-US" sz="900" kern="0" dirty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물류창고</a:t>
              </a:r>
              <a:endParaRPr lang="en-US" altLang="ko-KR" sz="900" kern="0" dirty="0">
                <a:solidFill>
                  <a:srgbClr val="000000"/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46" name="Rectangle 164">
              <a:extLst>
                <a:ext uri="{FF2B5EF4-FFF2-40B4-BE49-F238E27FC236}">
                  <a16:creationId xmlns:a16="http://schemas.microsoft.com/office/drawing/2014/main" id="{B52C664C-55FF-BF38-BD0C-F99041238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00" y="1797162"/>
              <a:ext cx="285069" cy="14173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lIns="36000" rIns="36000" anchor="ctr" anchorCtr="1"/>
            <a:lstStyle/>
            <a:p>
              <a:pPr marL="88900" indent="-88900" latinLnBrk="0">
                <a:spcBef>
                  <a:spcPct val="50000"/>
                </a:spcBef>
                <a:buClr>
                  <a:srgbClr val="006699"/>
                </a:buClr>
                <a:defRPr/>
              </a:pPr>
              <a:r>
                <a:rPr lang="en-US" altLang="ko-KR" sz="800" b="1" kern="0" dirty="0">
                  <a:solidFill>
                    <a:prstClr val="white"/>
                  </a:solidFill>
                  <a:latin typeface="+mj-ea"/>
                  <a:ea typeface="+mj-ea"/>
                  <a:cs typeface="Arial" charset="0"/>
                </a:rPr>
                <a:t>1.3</a:t>
              </a:r>
            </a:p>
          </p:txBody>
        </p:sp>
      </p:grpSp>
      <p:grpSp>
        <p:nvGrpSpPr>
          <p:cNvPr id="47" name="그룹 565">
            <a:extLst>
              <a:ext uri="{FF2B5EF4-FFF2-40B4-BE49-F238E27FC236}">
                <a16:creationId xmlns:a16="http://schemas.microsoft.com/office/drawing/2014/main" id="{4885BCA0-AC8A-31CA-2374-B3D7B27BCA67}"/>
              </a:ext>
            </a:extLst>
          </p:cNvPr>
          <p:cNvGrpSpPr/>
          <p:nvPr/>
        </p:nvGrpSpPr>
        <p:grpSpPr>
          <a:xfrm>
            <a:off x="5450000" y="3180000"/>
            <a:ext cx="1005374" cy="591993"/>
            <a:chOff x="488505" y="1773530"/>
            <a:chExt cx="1088932" cy="576056"/>
          </a:xfrm>
        </p:grpSpPr>
        <p:sp>
          <p:nvSpPr>
            <p:cNvPr id="48" name="Rectangle 133">
              <a:extLst>
                <a:ext uri="{FF2B5EF4-FFF2-40B4-BE49-F238E27FC236}">
                  <a16:creationId xmlns:a16="http://schemas.microsoft.com/office/drawing/2014/main" id="{E5DBFF0C-2926-6087-B45A-B5BEEF331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505" y="1773530"/>
              <a:ext cx="1088932" cy="57605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ln w="6350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lIns="54000" tIns="90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r>
                <a:rPr lang="ko-KR" altLang="en-US" sz="900" b="1" kern="0" dirty="0">
                  <a:solidFill>
                    <a:srgbClr val="1F497D">
                      <a:lumMod val="50000"/>
                    </a:srgbClr>
                  </a:solidFill>
                  <a:latin typeface="+mj-ea"/>
                  <a:ea typeface="+mj-ea"/>
                  <a:cs typeface="Arial" charset="0"/>
                </a:rPr>
                <a:t>재포장</a:t>
              </a: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49" name="Rectangle 134">
              <a:extLst>
                <a:ext uri="{FF2B5EF4-FFF2-40B4-BE49-F238E27FC236}">
                  <a16:creationId xmlns:a16="http://schemas.microsoft.com/office/drawing/2014/main" id="{262CC664-18F7-1145-6F50-FFB2A6D94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481" y="1797162"/>
              <a:ext cx="753191" cy="141738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66"/>
                    </a:outerShdw>
                  </a:effectLst>
                </a14:hiddenEffects>
              </a:ext>
            </a:extLst>
          </p:spPr>
          <p:txBody>
            <a:bodyPr lIns="54000" tIns="18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  <a:defRPr/>
              </a:pPr>
              <a:r>
                <a:rPr lang="ko-KR" altLang="en-US" sz="900" kern="0" dirty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물류창고</a:t>
              </a:r>
              <a:endParaRPr lang="en-US" altLang="ko-KR" sz="900" kern="0" dirty="0">
                <a:solidFill>
                  <a:srgbClr val="000000"/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50" name="Rectangle 164">
              <a:extLst>
                <a:ext uri="{FF2B5EF4-FFF2-40B4-BE49-F238E27FC236}">
                  <a16:creationId xmlns:a16="http://schemas.microsoft.com/office/drawing/2014/main" id="{B52C664C-55FF-BF38-BD0C-F99041238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00" y="1797162"/>
              <a:ext cx="285069" cy="14173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lIns="36000" rIns="36000" anchor="ctr" anchorCtr="1"/>
            <a:lstStyle/>
            <a:p>
              <a:pPr marL="88900" indent="-88900" latinLnBrk="0">
                <a:spcBef>
                  <a:spcPct val="50000"/>
                </a:spcBef>
                <a:buClr>
                  <a:srgbClr val="006699"/>
                </a:buClr>
                <a:defRPr/>
              </a:pPr>
              <a:r>
                <a:rPr lang="en-US" altLang="ko-KR" sz="800" b="1" kern="0" dirty="0">
                  <a:solidFill>
                    <a:prstClr val="white"/>
                  </a:solidFill>
                  <a:latin typeface="+mj-ea"/>
                  <a:ea typeface="+mj-ea"/>
                  <a:cs typeface="Arial" charset="0"/>
                </a:rPr>
                <a:t>1.4</a:t>
              </a:r>
            </a:p>
          </p:txBody>
        </p:sp>
      </p:grpSp>
      <p:grpSp>
        <p:nvGrpSpPr>
          <p:cNvPr id="51" name="그룹 565">
            <a:extLst>
              <a:ext uri="{FF2B5EF4-FFF2-40B4-BE49-F238E27FC236}">
                <a16:creationId xmlns:a16="http://schemas.microsoft.com/office/drawing/2014/main" id="{4885BCA0-AC8A-31CA-2374-B3D7B27BCA67}"/>
              </a:ext>
            </a:extLst>
          </p:cNvPr>
          <p:cNvGrpSpPr/>
          <p:nvPr/>
        </p:nvGrpSpPr>
        <p:grpSpPr>
          <a:xfrm>
            <a:off x="6900000" y="3180000"/>
            <a:ext cx="1005374" cy="591993"/>
            <a:chOff x="488505" y="1773530"/>
            <a:chExt cx="1088932" cy="576056"/>
          </a:xfrm>
        </p:grpSpPr>
        <p:sp>
          <p:nvSpPr>
            <p:cNvPr id="52" name="Rectangle 133">
              <a:extLst>
                <a:ext uri="{FF2B5EF4-FFF2-40B4-BE49-F238E27FC236}">
                  <a16:creationId xmlns:a16="http://schemas.microsoft.com/office/drawing/2014/main" id="{E5DBFF0C-2926-6087-B45A-B5BEEF331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505" y="1773530"/>
              <a:ext cx="1088932" cy="57605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ln w="6350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lIns="54000" tIns="90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r>
                <a:rPr lang="ko-KR" altLang="en-US" sz="900" b="1" kern="0" dirty="0">
                  <a:solidFill>
                    <a:srgbClr val="1F497D">
                      <a:lumMod val="50000"/>
                    </a:srgbClr>
                  </a:solidFill>
                  <a:latin typeface="+mj-ea"/>
                  <a:ea typeface="+mj-ea"/>
                  <a:cs typeface="Arial" charset="0"/>
                </a:rPr>
                <a:t>박스합침</a:t>
              </a: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53" name="Rectangle 134">
              <a:extLst>
                <a:ext uri="{FF2B5EF4-FFF2-40B4-BE49-F238E27FC236}">
                  <a16:creationId xmlns:a16="http://schemas.microsoft.com/office/drawing/2014/main" id="{262CC664-18F7-1145-6F50-FFB2A6D94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481" y="1797162"/>
              <a:ext cx="753191" cy="141738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66"/>
                    </a:outerShdw>
                  </a:effectLst>
                </a14:hiddenEffects>
              </a:ext>
            </a:extLst>
          </p:spPr>
          <p:txBody>
            <a:bodyPr lIns="54000" tIns="18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  <a:defRPr/>
              </a:pPr>
              <a:r>
                <a:rPr lang="ko-KR" altLang="en-US" sz="900" kern="0" dirty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물류창고</a:t>
              </a:r>
              <a:endParaRPr lang="en-US" altLang="ko-KR" sz="900" kern="0" dirty="0">
                <a:solidFill>
                  <a:srgbClr val="000000"/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54" name="Rectangle 164">
              <a:extLst>
                <a:ext uri="{FF2B5EF4-FFF2-40B4-BE49-F238E27FC236}">
                  <a16:creationId xmlns:a16="http://schemas.microsoft.com/office/drawing/2014/main" id="{B52C664C-55FF-BF38-BD0C-F99041238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00" y="1797162"/>
              <a:ext cx="285069" cy="14173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lIns="36000" rIns="36000" anchor="ctr" anchorCtr="1"/>
            <a:lstStyle/>
            <a:p>
              <a:pPr marL="88900" indent="-88900" latinLnBrk="0">
                <a:spcBef>
                  <a:spcPct val="50000"/>
                </a:spcBef>
                <a:buClr>
                  <a:srgbClr val="006699"/>
                </a:buClr>
                <a:defRPr/>
              </a:pPr>
              <a:r>
                <a:rPr lang="en-US" altLang="ko-KR" sz="800" b="1" kern="0" dirty="0">
                  <a:solidFill>
                    <a:prstClr val="white"/>
                  </a:solidFill>
                  <a:latin typeface="+mj-ea"/>
                  <a:ea typeface="+mj-ea"/>
                  <a:cs typeface="Arial" charset="0"/>
                </a:rPr>
                <a:t>1.5</a:t>
              </a:r>
            </a:p>
          </p:txBody>
        </p:sp>
      </p:grpSp>
      <p:grpSp>
        <p:nvGrpSpPr>
          <p:cNvPr id="55" name="그룹 551">
            <a:extLst>
              <a:ext uri="{FF2B5EF4-FFF2-40B4-BE49-F238E27FC236}">
                <a16:creationId xmlns:a16="http://schemas.microsoft.com/office/drawing/2014/main" id="{49D59CCB-27D3-2CB4-9702-54C178246D9F}"/>
              </a:ext>
            </a:extLst>
          </p:cNvPr>
          <p:cNvGrpSpPr/>
          <p:nvPr/>
        </p:nvGrpSpPr>
        <p:grpSpPr>
          <a:xfrm>
            <a:off x="4780000" y="3320000"/>
            <a:ext cx="415498" cy="312259"/>
            <a:chOff x="6376941" y="5722781"/>
            <a:chExt cx="415498" cy="312259"/>
          </a:xfrm>
        </p:grpSpPr>
        <p:sp>
          <p:nvSpPr>
            <p:cNvPr id="56" name="십각형 549">
              <a:extLst>
                <a:ext uri="{FF2B5EF4-FFF2-40B4-BE49-F238E27FC236}">
                  <a16:creationId xmlns:a16="http://schemas.microsoft.com/office/drawing/2014/main" id="{593D9BE5-85BC-35DD-5624-190D44BF6BA1}"/>
                </a:ext>
              </a:extLst>
            </p:cNvPr>
            <p:cNvSpPr/>
            <p:nvPr/>
          </p:nvSpPr>
          <p:spPr>
            <a:xfrm>
              <a:off x="6411052" y="5722781"/>
              <a:ext cx="338091" cy="312259"/>
            </a:xfrm>
            <a:prstGeom prst="decagon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b="1">
                <a:solidFill>
                  <a:schemeClr val="tx1"/>
                </a:solidFill>
              </a:endParaRPr>
            </a:p>
          </p:txBody>
        </p:sp>
        <p:sp>
          <p:nvSpPr>
            <p:cNvPr id="57" name="TextBox 550">
              <a:extLst>
                <a:ext uri="{FF2B5EF4-FFF2-40B4-BE49-F238E27FC236}">
                  <a16:creationId xmlns:a16="http://schemas.microsoft.com/office/drawing/2014/main" id="{DA34DC68-94D3-B2DB-170B-F1A7FD69C0C3}"/>
                </a:ext>
              </a:extLst>
            </p:cNvPr>
            <p:cNvSpPr txBox="1"/>
            <p:nvPr/>
          </p:nvSpPr>
          <p:spPr>
            <a:xfrm>
              <a:off x="6376941" y="576450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개발</a:t>
              </a:r>
            </a:p>
          </p:txBody>
        </p:sp>
      </p:grpSp>
      <p:grpSp>
        <p:nvGrpSpPr>
          <p:cNvPr id="58" name="그룹 551">
            <a:extLst>
              <a:ext uri="{FF2B5EF4-FFF2-40B4-BE49-F238E27FC236}">
                <a16:creationId xmlns:a16="http://schemas.microsoft.com/office/drawing/2014/main" id="{49D59CCB-27D3-2CB4-9702-54C178246D9F}"/>
              </a:ext>
            </a:extLst>
          </p:cNvPr>
          <p:cNvGrpSpPr/>
          <p:nvPr/>
        </p:nvGrpSpPr>
        <p:grpSpPr>
          <a:xfrm>
            <a:off x="6230000" y="3320000"/>
            <a:ext cx="415498" cy="312259"/>
            <a:chOff x="6376941" y="5722781"/>
            <a:chExt cx="415498" cy="312259"/>
          </a:xfrm>
        </p:grpSpPr>
        <p:sp>
          <p:nvSpPr>
            <p:cNvPr id="59" name="십각형 549">
              <a:extLst>
                <a:ext uri="{FF2B5EF4-FFF2-40B4-BE49-F238E27FC236}">
                  <a16:creationId xmlns:a16="http://schemas.microsoft.com/office/drawing/2014/main" id="{593D9BE5-85BC-35DD-5624-190D44BF6BA1}"/>
                </a:ext>
              </a:extLst>
            </p:cNvPr>
            <p:cNvSpPr/>
            <p:nvPr/>
          </p:nvSpPr>
          <p:spPr>
            <a:xfrm>
              <a:off x="6411052" y="5722781"/>
              <a:ext cx="338091" cy="312259"/>
            </a:xfrm>
            <a:prstGeom prst="decagon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b="1">
                <a:solidFill>
                  <a:schemeClr val="tx1"/>
                </a:solidFill>
              </a:endParaRPr>
            </a:p>
          </p:txBody>
        </p:sp>
        <p:sp>
          <p:nvSpPr>
            <p:cNvPr id="60" name="TextBox 550">
              <a:extLst>
                <a:ext uri="{FF2B5EF4-FFF2-40B4-BE49-F238E27FC236}">
                  <a16:creationId xmlns:a16="http://schemas.microsoft.com/office/drawing/2014/main" id="{DA34DC68-94D3-B2DB-170B-F1A7FD69C0C3}"/>
                </a:ext>
              </a:extLst>
            </p:cNvPr>
            <p:cNvSpPr txBox="1"/>
            <p:nvPr/>
          </p:nvSpPr>
          <p:spPr>
            <a:xfrm>
              <a:off x="6376941" y="576450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개발</a:t>
              </a:r>
            </a:p>
          </p:txBody>
        </p:sp>
      </p:grpSp>
      <p:grpSp>
        <p:nvGrpSpPr>
          <p:cNvPr id="61" name="그룹 551">
            <a:extLst>
              <a:ext uri="{FF2B5EF4-FFF2-40B4-BE49-F238E27FC236}">
                <a16:creationId xmlns:a16="http://schemas.microsoft.com/office/drawing/2014/main" id="{49D59CCB-27D3-2CB4-9702-54C178246D9F}"/>
              </a:ext>
            </a:extLst>
          </p:cNvPr>
          <p:cNvGrpSpPr/>
          <p:nvPr/>
        </p:nvGrpSpPr>
        <p:grpSpPr>
          <a:xfrm>
            <a:off x="7680000" y="3320000"/>
            <a:ext cx="415498" cy="312259"/>
            <a:chOff x="6376941" y="5722781"/>
            <a:chExt cx="415498" cy="312259"/>
          </a:xfrm>
        </p:grpSpPr>
        <p:sp>
          <p:nvSpPr>
            <p:cNvPr id="62" name="십각형 549">
              <a:extLst>
                <a:ext uri="{FF2B5EF4-FFF2-40B4-BE49-F238E27FC236}">
                  <a16:creationId xmlns:a16="http://schemas.microsoft.com/office/drawing/2014/main" id="{593D9BE5-85BC-35DD-5624-190D44BF6BA1}"/>
                </a:ext>
              </a:extLst>
            </p:cNvPr>
            <p:cNvSpPr/>
            <p:nvPr/>
          </p:nvSpPr>
          <p:spPr>
            <a:xfrm>
              <a:off x="6411052" y="5722781"/>
              <a:ext cx="338091" cy="312259"/>
            </a:xfrm>
            <a:prstGeom prst="decagon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b="1">
                <a:solidFill>
                  <a:schemeClr val="tx1"/>
                </a:solidFill>
              </a:endParaRPr>
            </a:p>
          </p:txBody>
        </p:sp>
        <p:sp>
          <p:nvSpPr>
            <p:cNvPr id="63" name="TextBox 550">
              <a:extLst>
                <a:ext uri="{FF2B5EF4-FFF2-40B4-BE49-F238E27FC236}">
                  <a16:creationId xmlns:a16="http://schemas.microsoft.com/office/drawing/2014/main" id="{DA34DC68-94D3-B2DB-170B-F1A7FD69C0C3}"/>
                </a:ext>
              </a:extLst>
            </p:cNvPr>
            <p:cNvSpPr txBox="1"/>
            <p:nvPr/>
          </p:nvSpPr>
          <p:spPr>
            <a:xfrm>
              <a:off x="6376941" y="576450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개발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3980000" y="2140000"/>
            <a:ext cx="235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미입고 제품</a:t>
            </a:r>
          </a:p>
          <a:p>
            <a:pPr algn="ctr"/>
            <a:r>
              <a:rPr sz="1100" b="0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공장 출하 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80000" y="2140000"/>
            <a:ext cx="24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입고 제품</a:t>
            </a:r>
          </a:p>
          <a:p>
            <a:pPr algn="ctr"/>
            <a:r>
              <a:rPr sz="1100" b="0">
                <a:solidFill>
                  <a:srgbClr val="374151"/>
                </a:solidFill>
                <a:latin typeface="맑은 고딕"/>
                <a:ea typeface="맑은 고딕"/>
                <a:cs typeface="맑은 고딕"/>
              </a:rPr>
              <a:t>창고 재고 박스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0000" y="2580000"/>
            <a:ext cx="275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  <a:latin typeface="맑은 고딕"/>
                <a:ea typeface="맑은 고딕"/>
                <a:cs typeface="맑은 고딕"/>
                <a:highlight>
                  <a:srgbClr val="D6DADF"/>
                </a:highlight>
              </a:rPr>
              <a:t>1.1 선입선출 일수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기본 30일, 관리자 설정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출고는 비교기간에 사용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최오래된 출하일+일수~오늘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재포장·박스합침은 제품 간 차이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0000" y="4700000"/>
            <a:ext cx="275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  <a:latin typeface="맑은 고딕"/>
                <a:ea typeface="맑은 고딕"/>
                <a:cs typeface="맑은 고딕"/>
                <a:highlight>
                  <a:srgbClr val="D6DADF"/>
                </a:highlight>
              </a:rPr>
              <a:t>1.2 무시 기준정보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출고 인터락에만 적용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품번 · 변경코드 · 입고처 · 출고기간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네 조건이 모두 있으면 인터락 제외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기간 해제 또는 영구 해제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00000" y="4100000"/>
            <a:ext cx="27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  <a:latin typeface="맑은 고딕"/>
                <a:ea typeface="맑은 고딕"/>
                <a:cs typeface="맑은 고딕"/>
                <a:highlight>
                  <a:srgbClr val="D6DADF"/>
                </a:highlight>
              </a:rPr>
              <a:t>1.3 출고 등록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PC·PDA, 박스라벨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대상: 창고 입고 박스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무시 기준 충족 시 제외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더 오래된 출하일 박스가 있으면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인터락. 팝업: N일 이전품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50000" y="4100000"/>
            <a:ext cx="27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  <a:latin typeface="맑은 고딕"/>
                <a:ea typeface="맑은 고딕"/>
                <a:cs typeface="맑은 고딕"/>
                <a:highlight>
                  <a:srgbClr val="D6DADF"/>
                </a:highlight>
              </a:rPr>
              <a:t>1.4 재포장 · 1.5 박스합침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제품라벨로 대상 제품 스캔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스캔 제품들의 법인출하일 차이가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선입선출 일수 이상이면 인터락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435374" y="2175996"/>
            <a:ext cx="2054626" cy="0"/>
          </a:xfrm>
          <a:prstGeom prst="line">
            <a:avLst/>
          </a:prstGeom>
          <a:ln w="63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490000" y="2175996"/>
            <a:ext cx="0" cy="844004"/>
          </a:xfrm>
          <a:prstGeom prst="line">
            <a:avLst/>
          </a:prstGeom>
          <a:ln w="63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490000" y="3020000"/>
            <a:ext cx="1012687" cy="0"/>
          </a:xfrm>
          <a:prstGeom prst="line">
            <a:avLst/>
          </a:prstGeom>
          <a:ln w="63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502687" y="3020000"/>
            <a:ext cx="0" cy="160000"/>
          </a:xfrm>
          <a:prstGeom prst="line">
            <a:avLst/>
          </a:prstGeom>
          <a:ln w="6350">
            <a:solidFill>
              <a:srgbClr val="00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490000" y="3020000"/>
            <a:ext cx="2462687" cy="0"/>
          </a:xfrm>
          <a:prstGeom prst="line">
            <a:avLst/>
          </a:prstGeom>
          <a:ln w="63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952687" y="3020000"/>
            <a:ext cx="0" cy="160000"/>
          </a:xfrm>
          <a:prstGeom prst="line">
            <a:avLst/>
          </a:prstGeom>
          <a:ln w="6350">
            <a:solidFill>
              <a:srgbClr val="00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490000" y="3020000"/>
            <a:ext cx="3912687" cy="0"/>
          </a:xfrm>
          <a:prstGeom prst="line">
            <a:avLst/>
          </a:prstGeom>
          <a:ln w="63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02687" y="3020000"/>
            <a:ext cx="0" cy="160000"/>
          </a:xfrm>
          <a:prstGeom prst="line">
            <a:avLst/>
          </a:prstGeom>
          <a:ln w="6350">
            <a:solidFill>
              <a:srgbClr val="00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435374" y="4295996"/>
            <a:ext cx="2054626" cy="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490000" y="3475996"/>
            <a:ext cx="0" cy="82000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490000" y="3475996"/>
            <a:ext cx="510000" cy="0"/>
          </a:xfrm>
          <a:prstGeom prst="line">
            <a:avLst/>
          </a:prstGeom>
          <a:ln w="63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446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80504-F709-A9D6-A231-D99706EB9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3">
            <a:extLst>
              <a:ext uri="{FF2B5EF4-FFF2-40B4-BE49-F238E27FC236}">
                <a16:creationId xmlns:a16="http://schemas.microsoft.com/office/drawing/2014/main" id="{8CC65523-9609-D19D-8B1C-E4CFAE1C31CA}"/>
              </a:ext>
            </a:extLst>
          </p:cNvPr>
          <p:cNvSpPr/>
          <p:nvPr/>
        </p:nvSpPr>
        <p:spPr bwMode="auto">
          <a:xfrm>
            <a:off x="3586171" y="1675326"/>
            <a:ext cx="6107979" cy="460454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solidFill>
                <a:prstClr val="black"/>
              </a:solidFill>
            </a:endParaRPr>
          </a:p>
        </p:txBody>
      </p:sp>
      <p:graphicFrame>
        <p:nvGraphicFramePr>
          <p:cNvPr id="3" name="Table 37">
            <a:extLst>
              <a:ext uri="{FF2B5EF4-FFF2-40B4-BE49-F238E27FC236}">
                <a16:creationId xmlns:a16="http://schemas.microsoft.com/office/drawing/2014/main" id="{EB01B2CF-4428-FEEC-2F3C-83CF345C0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569773"/>
              </p:ext>
            </p:extLst>
          </p:nvPr>
        </p:nvGraphicFramePr>
        <p:xfrm>
          <a:off x="200472" y="889392"/>
          <a:ext cx="9493679" cy="487680"/>
        </p:xfrm>
        <a:graphic>
          <a:graphicData uri="http://schemas.openxmlformats.org/drawingml/2006/table">
            <a:tbl>
              <a:tblPr/>
              <a:tblGrid>
                <a:gridCol w="1643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 b="1" dirty="0">
                          <a:solidFill>
                            <a:prstClr val="black"/>
                          </a:solidFill>
                          <a:latin typeface="+mn-lt"/>
                          <a:ea typeface="+mn-ea"/>
                        </a:rPr>
                        <a:t>Process ID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P15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000" b="1" dirty="0">
                          <a:solidFill>
                            <a:prstClr val="black"/>
                          </a:solidFill>
                          <a:latin typeface="+mn-lt"/>
                          <a:ea typeface="+mn-ea"/>
                        </a:rPr>
                        <a:t>Process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1" dirty="0">
                          <a:latin typeface="+mn-lt"/>
                          <a:ea typeface="+mn-ea"/>
                        </a:rPr>
                        <a:t>물류창고관리</a:t>
                      </a:r>
                      <a:endParaRPr lang="en-US" altLang="ko-KR" sz="1000" b="1" dirty="0">
                        <a:latin typeface="+mn-lt"/>
                        <a:ea typeface="+mn-ea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Objective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물류창고 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ESL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서버 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I/F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rebuchet MS" pitchFamily="34" charset="0"/>
                        <a:ea typeface="+mn-ea"/>
                      </a:endParaRPr>
                    </a:p>
                  </a:txBody>
                  <a:tcPr marT="91440" marB="9144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13">
            <a:extLst>
              <a:ext uri="{FF2B5EF4-FFF2-40B4-BE49-F238E27FC236}">
                <a16:creationId xmlns:a16="http://schemas.microsoft.com/office/drawing/2014/main" id="{2847AD19-2C99-A47E-785D-9AFB00B2193D}"/>
              </a:ext>
            </a:extLst>
          </p:cNvPr>
          <p:cNvSpPr/>
          <p:nvPr/>
        </p:nvSpPr>
        <p:spPr bwMode="auto">
          <a:xfrm>
            <a:off x="201892" y="1672285"/>
            <a:ext cx="3200493" cy="4607585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solidFill>
                <a:prstClr val="black"/>
              </a:solidFill>
            </a:endParaRPr>
          </a:p>
        </p:txBody>
      </p:sp>
      <p:sp>
        <p:nvSpPr>
          <p:cNvPr id="213" name="사각형: 둥근 모서리 212">
            <a:extLst>
              <a:ext uri="{FF2B5EF4-FFF2-40B4-BE49-F238E27FC236}">
                <a16:creationId xmlns:a16="http://schemas.microsoft.com/office/drawing/2014/main" id="{7CC2FB75-0EFD-4414-CB14-07FCC2C6E1CE}"/>
              </a:ext>
            </a:extLst>
          </p:cNvPr>
          <p:cNvSpPr/>
          <p:nvPr/>
        </p:nvSpPr>
        <p:spPr>
          <a:xfrm>
            <a:off x="3584208" y="1410754"/>
            <a:ext cx="6110642" cy="294121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/>
              <a:t>엘컴텍</a:t>
            </a:r>
            <a:r>
              <a:rPr lang="ko-KR" altLang="en-US" sz="1000" b="1" dirty="0"/>
              <a:t> 물류창고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93B6D9-9C68-76E7-1EA7-755129C8E44C}"/>
              </a:ext>
            </a:extLst>
          </p:cNvPr>
          <p:cNvSpPr txBox="1"/>
          <p:nvPr/>
        </p:nvSpPr>
        <p:spPr>
          <a:xfrm>
            <a:off x="7797255" y="364743"/>
            <a:ext cx="2005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u="sng" dirty="0">
                <a:solidFill>
                  <a:schemeClr val="bg1">
                    <a:lumMod val="65000"/>
                  </a:schemeClr>
                </a:solidFill>
              </a:rPr>
              <a:t>2. To-be</a:t>
            </a:r>
            <a:r>
              <a:rPr lang="ko-KR" altLang="en-US" b="1" i="1" u="sng" dirty="0">
                <a:solidFill>
                  <a:schemeClr val="bg1">
                    <a:lumMod val="65000"/>
                  </a:schemeClr>
                </a:solidFill>
              </a:rPr>
              <a:t>프로세스</a:t>
            </a:r>
          </a:p>
        </p:txBody>
      </p:sp>
      <p:sp>
        <p:nvSpPr>
          <p:cNvPr id="30" name="AutoShape 952">
            <a:extLst>
              <a:ext uri="{FF2B5EF4-FFF2-40B4-BE49-F238E27FC236}">
                <a16:creationId xmlns:a16="http://schemas.microsoft.com/office/drawing/2014/main" id="{BFBDBAEC-EC64-7AB3-3D4C-97848E3E0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487" y="1953891"/>
            <a:ext cx="1334241" cy="1193805"/>
          </a:xfrm>
          <a:prstGeom prst="roundRect">
            <a:avLst>
              <a:gd name="adj" fmla="val 2551"/>
            </a:avLst>
          </a:prstGeom>
          <a:noFill/>
          <a:ln w="9525">
            <a:solidFill>
              <a:srgbClr val="0070C0"/>
            </a:solidFill>
            <a:prstDash val="sysDash"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rIns="36000" anchor="t" anchorCtr="0"/>
          <a:lstStyle/>
          <a:p>
            <a:pPr lvl="0" latinLnBrk="0">
              <a:defRPr/>
            </a:pPr>
            <a:endParaRPr kumimoji="0" lang="en-US" altLang="ko-KR" sz="900" b="1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cxnSp>
        <p:nvCxnSpPr>
          <p:cNvPr id="494" name="꺾인 연결선 245">
            <a:extLst>
              <a:ext uri="{FF2B5EF4-FFF2-40B4-BE49-F238E27FC236}">
                <a16:creationId xmlns:a16="http://schemas.microsoft.com/office/drawing/2014/main" id="{5FEA9227-CDF7-1240-823D-1A8686A9C650}"/>
              </a:ext>
            </a:extLst>
          </p:cNvPr>
          <p:cNvCxnSpPr>
            <a:cxnSpLocks/>
          </p:cNvCxnSpPr>
          <p:nvPr/>
        </p:nvCxnSpPr>
        <p:spPr>
          <a:xfrm>
            <a:off x="1294219" y="3588936"/>
            <a:ext cx="3296388" cy="1350347"/>
          </a:xfrm>
          <a:prstGeom prst="bentConnector3">
            <a:avLst>
              <a:gd name="adj1" fmla="val 41811"/>
            </a:avLst>
          </a:prstGeom>
          <a:noFill/>
          <a:ln w="19050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7" name="원통형 506">
            <a:extLst>
              <a:ext uri="{FF2B5EF4-FFF2-40B4-BE49-F238E27FC236}">
                <a16:creationId xmlns:a16="http://schemas.microsoft.com/office/drawing/2014/main" id="{D530EA4D-35F5-64C6-8BC2-3851E75B3E09}"/>
              </a:ext>
            </a:extLst>
          </p:cNvPr>
          <p:cNvSpPr/>
          <p:nvPr/>
        </p:nvSpPr>
        <p:spPr>
          <a:xfrm>
            <a:off x="5880737" y="4855295"/>
            <a:ext cx="711073" cy="337153"/>
          </a:xfrm>
          <a:prstGeom prst="can">
            <a:avLst>
              <a:gd name="adj" fmla="val 20674"/>
            </a:avLst>
          </a:prstGeom>
          <a:solidFill>
            <a:schemeClr val="accent4">
              <a:lumMod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WMS DB</a:t>
            </a:r>
          </a:p>
        </p:txBody>
      </p:sp>
      <p:cxnSp>
        <p:nvCxnSpPr>
          <p:cNvPr id="283" name="꺾인 연결선 245">
            <a:extLst>
              <a:ext uri="{FF2B5EF4-FFF2-40B4-BE49-F238E27FC236}">
                <a16:creationId xmlns:a16="http://schemas.microsoft.com/office/drawing/2014/main" id="{402A4A56-8E6B-C0C0-0B56-384C1E04262E}"/>
              </a:ext>
            </a:extLst>
          </p:cNvPr>
          <p:cNvCxnSpPr>
            <a:cxnSpLocks/>
            <a:stCxn id="10" idx="3"/>
            <a:endCxn id="507" idx="2"/>
          </p:cNvCxnSpPr>
          <p:nvPr/>
        </p:nvCxnSpPr>
        <p:spPr>
          <a:xfrm>
            <a:off x="4999415" y="4829212"/>
            <a:ext cx="881322" cy="194660"/>
          </a:xfrm>
          <a:prstGeom prst="bentConnector3">
            <a:avLst>
              <a:gd name="adj1" fmla="val 6581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round/>
            <a:headEnd/>
            <a:tailEnd type="triangl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8CE3F7EA-87BD-DE83-5FBB-A7A655B3BCA2}"/>
              </a:ext>
            </a:extLst>
          </p:cNvPr>
          <p:cNvGrpSpPr/>
          <p:nvPr/>
        </p:nvGrpSpPr>
        <p:grpSpPr>
          <a:xfrm>
            <a:off x="5828902" y="3705137"/>
            <a:ext cx="1005374" cy="591993"/>
            <a:chOff x="488505" y="1773530"/>
            <a:chExt cx="1088932" cy="576056"/>
          </a:xfrm>
        </p:grpSpPr>
        <p:sp>
          <p:nvSpPr>
            <p:cNvPr id="290" name="Rectangle 133">
              <a:extLst>
                <a:ext uri="{FF2B5EF4-FFF2-40B4-BE49-F238E27FC236}">
                  <a16:creationId xmlns:a16="http://schemas.microsoft.com/office/drawing/2014/main" id="{DCBB8757-32E8-4477-1E70-5FCFED1C3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505" y="1773530"/>
              <a:ext cx="1088932" cy="57605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ln w="6350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lIns="54000" tIns="90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r>
                <a:rPr lang="en-US" altLang="ko-KR" sz="900" b="1" kern="0" dirty="0">
                  <a:solidFill>
                    <a:srgbClr val="1F497D">
                      <a:lumMod val="50000"/>
                    </a:srgbClr>
                  </a:solidFill>
                  <a:latin typeface="+mj-ea"/>
                  <a:ea typeface="+mj-ea"/>
                  <a:cs typeface="Arial" charset="0"/>
                </a:rPr>
                <a:t>ESL</a:t>
              </a:r>
              <a:r>
                <a:rPr lang="ko-KR" altLang="en-US" sz="900" b="1" kern="0" dirty="0">
                  <a:solidFill>
                    <a:srgbClr val="1F497D">
                      <a:lumMod val="50000"/>
                    </a:srgbClr>
                  </a:solidFill>
                  <a:latin typeface="+mj-ea"/>
                  <a:ea typeface="+mj-ea"/>
                  <a:cs typeface="Arial" charset="0"/>
                </a:rPr>
                <a:t>제외대상</a:t>
              </a: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r>
                <a:rPr lang="ko-KR" altLang="en-US" sz="900" b="1" kern="0" dirty="0">
                  <a:solidFill>
                    <a:srgbClr val="1F497D">
                      <a:lumMod val="50000"/>
                    </a:srgbClr>
                  </a:solidFill>
                  <a:latin typeface="+mj-ea"/>
                  <a:ea typeface="+mj-ea"/>
                  <a:cs typeface="Arial" charset="0"/>
                </a:rPr>
                <a:t>품번 등록</a:t>
              </a: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291" name="Rectangle 134">
              <a:extLst>
                <a:ext uri="{FF2B5EF4-FFF2-40B4-BE49-F238E27FC236}">
                  <a16:creationId xmlns:a16="http://schemas.microsoft.com/office/drawing/2014/main" id="{BA080634-1AB0-E79E-30DA-17043FB9B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481" y="1797162"/>
              <a:ext cx="753191" cy="141738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66"/>
                    </a:outerShdw>
                  </a:effectLst>
                </a14:hiddenEffects>
              </a:ext>
            </a:extLst>
          </p:spPr>
          <p:txBody>
            <a:bodyPr lIns="54000" tIns="18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  <a:defRPr/>
              </a:pPr>
              <a:r>
                <a:rPr lang="ko-KR" altLang="en-US" sz="900" kern="0" dirty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물류창고</a:t>
              </a:r>
              <a:endParaRPr lang="en-US" altLang="ko-KR" sz="900" kern="0" dirty="0">
                <a:solidFill>
                  <a:srgbClr val="000000"/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292" name="Rectangle 164">
              <a:extLst>
                <a:ext uri="{FF2B5EF4-FFF2-40B4-BE49-F238E27FC236}">
                  <a16:creationId xmlns:a16="http://schemas.microsoft.com/office/drawing/2014/main" id="{C96B86B7-3FDE-5951-1230-C6AFD56F5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00" y="1797162"/>
              <a:ext cx="285069" cy="14173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lIns="36000" rIns="36000" anchor="ctr" anchorCtr="1"/>
            <a:lstStyle/>
            <a:p>
              <a:pPr marL="88900" indent="-88900" latinLnBrk="0">
                <a:spcBef>
                  <a:spcPct val="50000"/>
                </a:spcBef>
                <a:buClr>
                  <a:srgbClr val="006699"/>
                </a:buClr>
                <a:defRPr/>
              </a:pPr>
              <a:r>
                <a:rPr lang="en-US" altLang="ko-KR" sz="800" b="1" kern="0" dirty="0">
                  <a:solidFill>
                    <a:prstClr val="white"/>
                  </a:solidFill>
                  <a:latin typeface="+mj-ea"/>
                  <a:ea typeface="+mj-ea"/>
                  <a:cs typeface="Arial" charset="0"/>
                </a:rPr>
                <a:t>1.2</a:t>
              </a:r>
            </a:p>
          </p:txBody>
        </p:sp>
      </p:grpSp>
      <p:sp>
        <p:nvSpPr>
          <p:cNvPr id="300" name="TextBox 299">
            <a:extLst>
              <a:ext uri="{FF2B5EF4-FFF2-40B4-BE49-F238E27FC236}">
                <a16:creationId xmlns:a16="http://schemas.microsoft.com/office/drawing/2014/main" id="{9A33D636-57FE-CFB3-4BB4-4D0A89814E90}"/>
              </a:ext>
            </a:extLst>
          </p:cNvPr>
          <p:cNvSpPr txBox="1"/>
          <p:nvPr/>
        </p:nvSpPr>
        <p:spPr>
          <a:xfrm>
            <a:off x="4366261" y="4447223"/>
            <a:ext cx="794213" cy="211203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spAutoFit/>
          </a:bodyPr>
          <a:lstStyle/>
          <a:p>
            <a:pPr algn="ctr">
              <a:spcBef>
                <a:spcPts val="400"/>
              </a:spcBef>
            </a:pPr>
            <a:r>
              <a:rPr lang="en-US" altLang="ko-KR" sz="900" dirty="0">
                <a:latin typeface="+mn-ea"/>
                <a:cs typeface="Arial" pitchFamily="34" charset="0"/>
              </a:rPr>
              <a:t>WMS</a:t>
            </a:r>
            <a:r>
              <a:rPr lang="ko-KR" altLang="en-US" sz="900" dirty="0">
                <a:latin typeface="+mn-ea"/>
                <a:cs typeface="Arial" pitchFamily="34" charset="0"/>
              </a:rPr>
              <a:t>서버</a:t>
            </a:r>
            <a:endParaRPr lang="en-US" altLang="ko-KR" sz="900" dirty="0">
              <a:latin typeface="+mn-ea"/>
              <a:cs typeface="Arial" pitchFamily="34" charset="0"/>
            </a:endParaRPr>
          </a:p>
        </p:txBody>
      </p:sp>
      <p:cxnSp>
        <p:nvCxnSpPr>
          <p:cNvPr id="305" name="꺾인 연결선 245">
            <a:extLst>
              <a:ext uri="{FF2B5EF4-FFF2-40B4-BE49-F238E27FC236}">
                <a16:creationId xmlns:a16="http://schemas.microsoft.com/office/drawing/2014/main" id="{86037735-C12A-1F19-1E22-13CB48EAB3EB}"/>
              </a:ext>
            </a:extLst>
          </p:cNvPr>
          <p:cNvCxnSpPr>
            <a:cxnSpLocks/>
            <a:stCxn id="290" idx="2"/>
            <a:endCxn id="10" idx="0"/>
          </p:cNvCxnSpPr>
          <p:nvPr/>
        </p:nvCxnSpPr>
        <p:spPr>
          <a:xfrm rot="5400000">
            <a:off x="5393516" y="3698625"/>
            <a:ext cx="339568" cy="1536578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round/>
            <a:headEnd/>
            <a:tailEnd type="triangl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3A883DA-6743-58EA-AFFD-EAB8666B80BC}"/>
              </a:ext>
            </a:extLst>
          </p:cNvPr>
          <p:cNvSpPr txBox="1"/>
          <p:nvPr/>
        </p:nvSpPr>
        <p:spPr>
          <a:xfrm>
            <a:off x="4095354" y="1960795"/>
            <a:ext cx="604505" cy="211203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spAutoFit/>
          </a:bodyPr>
          <a:lstStyle/>
          <a:p>
            <a:pPr algn="ctr">
              <a:spcBef>
                <a:spcPts val="400"/>
              </a:spcBef>
            </a:pPr>
            <a:r>
              <a:rPr lang="en-US" altLang="ko-KR" sz="900" dirty="0">
                <a:latin typeface="+mn-ea"/>
                <a:cs typeface="Arial" pitchFamily="34" charset="0"/>
              </a:rPr>
              <a:t>A </a:t>
            </a:r>
            <a:r>
              <a:rPr lang="ko-KR" altLang="en-US" sz="900" dirty="0">
                <a:latin typeface="+mn-ea"/>
                <a:cs typeface="Arial" pitchFamily="34" charset="0"/>
              </a:rPr>
              <a:t>구역</a:t>
            </a:r>
            <a:endParaRPr lang="en-US" altLang="ko-KR" sz="900" dirty="0">
              <a:latin typeface="+mn-ea"/>
              <a:cs typeface="Arial" pitchFamily="34" charset="0"/>
            </a:endParaRPr>
          </a:p>
        </p:txBody>
      </p:sp>
      <p:pic>
        <p:nvPicPr>
          <p:cNvPr id="5" name="Picture 489" descr="C:\WINDOWS\Application Data\Microsoft\Media Catalog\attview_06.gif">
            <a:extLst>
              <a:ext uri="{FF2B5EF4-FFF2-40B4-BE49-F238E27FC236}">
                <a16:creationId xmlns:a16="http://schemas.microsoft.com/office/drawing/2014/main" id="{08F826B8-1250-EFE1-EE45-AE613156D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11" y="3352877"/>
            <a:ext cx="408808" cy="385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89" descr="C:\WINDOWS\Application Data\Microsoft\Media Catalog\attview_06.gif">
            <a:extLst>
              <a:ext uri="{FF2B5EF4-FFF2-40B4-BE49-F238E27FC236}">
                <a16:creationId xmlns:a16="http://schemas.microsoft.com/office/drawing/2014/main" id="{505D3CFB-0EC3-9E44-18E3-639135D5C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607" y="4636698"/>
            <a:ext cx="408808" cy="385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952">
            <a:extLst>
              <a:ext uri="{FF2B5EF4-FFF2-40B4-BE49-F238E27FC236}">
                <a16:creationId xmlns:a16="http://schemas.microsoft.com/office/drawing/2014/main" id="{6DE42A37-F94D-A189-C35E-B73F7B36B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3564" y="1951517"/>
            <a:ext cx="1334241" cy="1193805"/>
          </a:xfrm>
          <a:prstGeom prst="roundRect">
            <a:avLst>
              <a:gd name="adj" fmla="val 2551"/>
            </a:avLst>
          </a:prstGeom>
          <a:noFill/>
          <a:ln w="9525">
            <a:solidFill>
              <a:srgbClr val="0070C0"/>
            </a:solidFill>
            <a:prstDash val="sysDash"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rIns="36000" anchor="t" anchorCtr="0"/>
          <a:lstStyle/>
          <a:p>
            <a:pPr lvl="0" latinLnBrk="0">
              <a:defRPr/>
            </a:pPr>
            <a:endParaRPr kumimoji="0" lang="en-US" altLang="ko-KR" sz="900" b="1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8E08D05E-2D37-FEBA-4FF9-44B57EF2A980}"/>
              </a:ext>
            </a:extLst>
          </p:cNvPr>
          <p:cNvSpPr txBox="1"/>
          <p:nvPr/>
        </p:nvSpPr>
        <p:spPr>
          <a:xfrm>
            <a:off x="5538431" y="1976766"/>
            <a:ext cx="604505" cy="211203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spAutoFit/>
          </a:bodyPr>
          <a:lstStyle/>
          <a:p>
            <a:pPr algn="ctr">
              <a:spcBef>
                <a:spcPts val="400"/>
              </a:spcBef>
            </a:pPr>
            <a:r>
              <a:rPr lang="en-US" altLang="ko-KR" sz="900" dirty="0">
                <a:latin typeface="+mn-ea"/>
                <a:cs typeface="Arial" pitchFamily="34" charset="0"/>
              </a:rPr>
              <a:t>B </a:t>
            </a:r>
            <a:r>
              <a:rPr lang="ko-KR" altLang="en-US" sz="900" dirty="0">
                <a:latin typeface="+mn-ea"/>
                <a:cs typeface="Arial" pitchFamily="34" charset="0"/>
              </a:rPr>
              <a:t>구역</a:t>
            </a:r>
            <a:endParaRPr lang="en-US" altLang="ko-KR" sz="900" dirty="0">
              <a:latin typeface="+mn-ea"/>
              <a:cs typeface="Arial" pitchFamily="34" charset="0"/>
            </a:endParaRPr>
          </a:p>
        </p:txBody>
      </p:sp>
      <p:sp>
        <p:nvSpPr>
          <p:cNvPr id="454" name="사각형: 둥근 모서리 453">
            <a:extLst>
              <a:ext uri="{FF2B5EF4-FFF2-40B4-BE49-F238E27FC236}">
                <a16:creationId xmlns:a16="http://schemas.microsoft.com/office/drawing/2014/main" id="{05BBC6D5-C19B-4655-ED77-2E05128DD104}"/>
              </a:ext>
            </a:extLst>
          </p:cNvPr>
          <p:cNvSpPr/>
          <p:nvPr/>
        </p:nvSpPr>
        <p:spPr>
          <a:xfrm>
            <a:off x="200472" y="1422525"/>
            <a:ext cx="3201913" cy="294121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파트론 </a:t>
            </a:r>
            <a:r>
              <a:rPr lang="en-US" altLang="ko-KR" sz="1000" b="1" dirty="0"/>
              <a:t>ESL</a:t>
            </a:r>
            <a:endParaRPr lang="ko-KR" altLang="en-US" sz="1000" b="1" dirty="0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9C21169C-FAD8-E931-B399-8322E992956F}"/>
              </a:ext>
            </a:extLst>
          </p:cNvPr>
          <p:cNvSpPr txBox="1"/>
          <p:nvPr/>
        </p:nvSpPr>
        <p:spPr>
          <a:xfrm>
            <a:off x="2797268" y="4111326"/>
            <a:ext cx="1587739" cy="6933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rtlCol="0" anchor="ctr">
            <a:spAutoFit/>
          </a:bodyPr>
          <a:lstStyle/>
          <a:p>
            <a:pPr>
              <a:spcBef>
                <a:spcPts val="400"/>
              </a:spcBef>
            </a:pPr>
            <a:r>
              <a:rPr lang="en-US" altLang="ko-KR" sz="1000" b="1" dirty="0">
                <a:highlight>
                  <a:srgbClr val="D6DADF"/>
                </a:highlight>
                <a:latin typeface="+mn-ea"/>
                <a:cs typeface="Arial" pitchFamily="34" charset="0"/>
              </a:rPr>
              <a:t>1.ESL</a:t>
            </a:r>
            <a:r>
              <a:rPr lang="ko-KR" altLang="en-US" sz="1000" b="1" dirty="0">
                <a:highlight>
                  <a:srgbClr val="D6DADF"/>
                </a:highlight>
                <a:latin typeface="+mn-ea"/>
                <a:cs typeface="Arial" pitchFamily="34" charset="0"/>
              </a:rPr>
              <a:t>표기정보 전송</a:t>
            </a:r>
            <a:endParaRPr lang="en-US" altLang="ko-KR" sz="1000" b="1" dirty="0">
              <a:highlight>
                <a:srgbClr val="D6DADF"/>
              </a:highlight>
              <a:latin typeface="+mn-ea"/>
              <a:cs typeface="Arial" pitchFamily="34" charset="0"/>
            </a:endParaRPr>
          </a:p>
          <a:p>
            <a:pPr>
              <a:spcBef>
                <a:spcPts val="400"/>
              </a:spcBef>
            </a:pPr>
            <a:r>
              <a:rPr lang="ko-KR" altLang="en-US" sz="900" dirty="0">
                <a:latin typeface="+mn-ea"/>
                <a:cs typeface="Arial" pitchFamily="34" charset="0"/>
              </a:rPr>
              <a:t>구역별</a:t>
            </a:r>
            <a:r>
              <a:rPr lang="en-US" altLang="ko-KR" sz="900" dirty="0">
                <a:latin typeface="+mn-ea"/>
                <a:cs typeface="Arial" pitchFamily="34" charset="0"/>
              </a:rPr>
              <a:t>,</a:t>
            </a:r>
            <a:r>
              <a:rPr lang="ko-KR" altLang="en-US" sz="900" dirty="0">
                <a:latin typeface="+mn-ea"/>
                <a:cs typeface="Arial" pitchFamily="34" charset="0"/>
              </a:rPr>
              <a:t>차종별</a:t>
            </a:r>
            <a:r>
              <a:rPr lang="en-US" altLang="ko-KR" sz="900" dirty="0">
                <a:latin typeface="+mn-ea"/>
                <a:cs typeface="Arial" pitchFamily="34" charset="0"/>
              </a:rPr>
              <a:t>,</a:t>
            </a:r>
            <a:r>
              <a:rPr lang="ko-KR" altLang="en-US" sz="900" dirty="0">
                <a:latin typeface="+mn-ea"/>
                <a:cs typeface="Arial" pitchFamily="34" charset="0"/>
              </a:rPr>
              <a:t>품번별</a:t>
            </a:r>
            <a:r>
              <a:rPr lang="en-US" altLang="ko-KR" sz="900" dirty="0">
                <a:latin typeface="+mn-ea"/>
                <a:cs typeface="Arial" pitchFamily="34" charset="0"/>
              </a:rPr>
              <a:t>,</a:t>
            </a:r>
            <a:r>
              <a:rPr lang="ko-KR" altLang="en-US" sz="900" dirty="0" err="1">
                <a:latin typeface="+mn-ea"/>
                <a:cs typeface="Arial" pitchFamily="34" charset="0"/>
              </a:rPr>
              <a:t>변경품코드별</a:t>
            </a:r>
            <a:r>
              <a:rPr lang="en-US" altLang="ko-KR" sz="900" dirty="0">
                <a:latin typeface="+mn-ea"/>
                <a:cs typeface="Arial" pitchFamily="34" charset="0"/>
              </a:rPr>
              <a:t>,</a:t>
            </a:r>
            <a:r>
              <a:rPr lang="ko-KR" altLang="en-US" sz="900" dirty="0">
                <a:latin typeface="+mn-ea"/>
                <a:cs typeface="Arial" pitchFamily="34" charset="0"/>
              </a:rPr>
              <a:t>버전별</a:t>
            </a:r>
            <a:r>
              <a:rPr lang="en-US" altLang="ko-KR" sz="900" dirty="0">
                <a:latin typeface="+mn-ea"/>
                <a:cs typeface="Arial" pitchFamily="34" charset="0"/>
              </a:rPr>
              <a:t>,</a:t>
            </a:r>
            <a:r>
              <a:rPr lang="ko-KR" altLang="en-US" sz="900" dirty="0">
                <a:latin typeface="+mn-ea"/>
                <a:cs typeface="Arial" pitchFamily="34" charset="0"/>
              </a:rPr>
              <a:t>박스타입별</a:t>
            </a:r>
            <a:r>
              <a:rPr lang="en-US" altLang="ko-KR" sz="900" dirty="0">
                <a:latin typeface="+mn-ea"/>
                <a:cs typeface="Arial" pitchFamily="34" charset="0"/>
              </a:rPr>
              <a:t>,</a:t>
            </a:r>
            <a:r>
              <a:rPr lang="ko-KR" altLang="en-US" sz="900" dirty="0" err="1">
                <a:latin typeface="+mn-ea"/>
                <a:cs typeface="Arial" pitchFamily="34" charset="0"/>
              </a:rPr>
              <a:t>제품수량를</a:t>
            </a:r>
            <a:r>
              <a:rPr lang="en-US" altLang="ko-KR" sz="900" dirty="0">
                <a:latin typeface="+mn-ea"/>
                <a:cs typeface="Arial" pitchFamily="34" charset="0"/>
              </a:rPr>
              <a:t> ESL</a:t>
            </a:r>
            <a:r>
              <a:rPr lang="ko-KR" altLang="en-US" sz="900" dirty="0">
                <a:latin typeface="+mn-ea"/>
                <a:cs typeface="Arial" pitchFamily="34" charset="0"/>
              </a:rPr>
              <a:t>표기</a:t>
            </a:r>
            <a:endParaRPr lang="en-US" altLang="ko-KR" sz="900" dirty="0">
              <a:latin typeface="+mn-ea"/>
              <a:cs typeface="Arial" pitchFamily="34" charset="0"/>
            </a:endParaRPr>
          </a:p>
        </p:txBody>
      </p:sp>
      <p:cxnSp>
        <p:nvCxnSpPr>
          <p:cNvPr id="471" name="꺾인 연결선 245">
            <a:extLst>
              <a:ext uri="{FF2B5EF4-FFF2-40B4-BE49-F238E27FC236}">
                <a16:creationId xmlns:a16="http://schemas.microsoft.com/office/drawing/2014/main" id="{43977357-85F0-19DF-5A3B-798798E3F4E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304389" y="3467399"/>
            <a:ext cx="3286218" cy="1361813"/>
          </a:xfrm>
          <a:prstGeom prst="bentConnector3">
            <a:avLst>
              <a:gd name="adj1" fmla="val 46025"/>
            </a:avLst>
          </a:prstGeom>
          <a:noFill/>
          <a:ln w="19050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6" name="TextBox 475">
            <a:extLst>
              <a:ext uri="{FF2B5EF4-FFF2-40B4-BE49-F238E27FC236}">
                <a16:creationId xmlns:a16="http://schemas.microsoft.com/office/drawing/2014/main" id="{491AD3DA-913D-73F9-0C5F-377F45A2BCBE}"/>
              </a:ext>
            </a:extLst>
          </p:cNvPr>
          <p:cNvSpPr txBox="1"/>
          <p:nvPr/>
        </p:nvSpPr>
        <p:spPr>
          <a:xfrm>
            <a:off x="2616825" y="4978099"/>
            <a:ext cx="1587739" cy="744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rtlCol="0" anchor="ctr">
            <a:spAutoFit/>
          </a:bodyPr>
          <a:lstStyle/>
          <a:p>
            <a:pPr>
              <a:spcBef>
                <a:spcPts val="400"/>
              </a:spcBef>
            </a:pPr>
            <a:r>
              <a:rPr lang="en-US" altLang="ko-KR" sz="1000" b="1" dirty="0">
                <a:highlight>
                  <a:srgbClr val="D6DADF"/>
                </a:highlight>
                <a:latin typeface="+mn-ea"/>
                <a:cs typeface="Arial" pitchFamily="34" charset="0"/>
              </a:rPr>
              <a:t>2.ESL</a:t>
            </a:r>
            <a:r>
              <a:rPr lang="ko-KR" altLang="en-US" sz="1000" b="1" dirty="0">
                <a:highlight>
                  <a:srgbClr val="D6DADF"/>
                </a:highlight>
                <a:latin typeface="+mn-ea"/>
                <a:cs typeface="Arial" pitchFamily="34" charset="0"/>
              </a:rPr>
              <a:t>제외 </a:t>
            </a:r>
            <a:r>
              <a:rPr lang="ko-KR" altLang="en-US" sz="1000" b="1" dirty="0" err="1">
                <a:highlight>
                  <a:srgbClr val="D6DADF"/>
                </a:highlight>
                <a:latin typeface="+mn-ea"/>
                <a:cs typeface="Arial" pitchFamily="34" charset="0"/>
              </a:rPr>
              <a:t>품번정보</a:t>
            </a:r>
            <a:r>
              <a:rPr lang="ko-KR" altLang="en-US" sz="1000" b="1" dirty="0">
                <a:highlight>
                  <a:srgbClr val="D6DADF"/>
                </a:highlight>
                <a:latin typeface="+mn-ea"/>
                <a:cs typeface="Arial" pitchFamily="34" charset="0"/>
              </a:rPr>
              <a:t> 전송</a:t>
            </a:r>
            <a:endParaRPr lang="en-US" altLang="ko-KR" sz="1000" b="1" dirty="0">
              <a:highlight>
                <a:srgbClr val="D6DADF"/>
              </a:highlight>
              <a:latin typeface="+mn-ea"/>
              <a:cs typeface="Arial" pitchFamily="34" charset="0"/>
            </a:endParaRPr>
          </a:p>
          <a:p>
            <a:pPr>
              <a:spcBef>
                <a:spcPts val="400"/>
              </a:spcBef>
            </a:pPr>
            <a:r>
              <a:rPr lang="en-US" altLang="ko-KR" sz="900" dirty="0">
                <a:latin typeface="+mn-ea"/>
                <a:cs typeface="Arial" pitchFamily="34" charset="0"/>
              </a:rPr>
              <a:t>ESL</a:t>
            </a:r>
            <a:r>
              <a:rPr lang="ko-KR" altLang="en-US" sz="900" dirty="0">
                <a:latin typeface="+mn-ea"/>
                <a:cs typeface="Arial" pitchFamily="34" charset="0"/>
              </a:rPr>
              <a:t>제외대상 품번을 </a:t>
            </a:r>
            <a:r>
              <a:rPr lang="en-US" altLang="ko-KR" sz="900" dirty="0">
                <a:latin typeface="+mn-ea"/>
                <a:cs typeface="Arial" pitchFamily="34" charset="0"/>
              </a:rPr>
              <a:t>ESL</a:t>
            </a:r>
            <a:r>
              <a:rPr lang="ko-KR" altLang="en-US" sz="900" dirty="0">
                <a:latin typeface="+mn-ea"/>
                <a:cs typeface="Arial" pitchFamily="34" charset="0"/>
              </a:rPr>
              <a:t>표기정보에서 제외처리</a:t>
            </a:r>
            <a:endParaRPr lang="en-US" altLang="ko-KR" sz="900" dirty="0">
              <a:latin typeface="+mn-ea"/>
              <a:cs typeface="Arial" pitchFamily="34" charset="0"/>
            </a:endParaRPr>
          </a:p>
          <a:p>
            <a:pPr>
              <a:spcBef>
                <a:spcPts val="400"/>
              </a:spcBef>
            </a:pPr>
            <a:r>
              <a:rPr lang="en-US" altLang="ko-KR" sz="900" dirty="0">
                <a:latin typeface="+mn-ea"/>
                <a:cs typeface="Arial" pitchFamily="34" charset="0"/>
              </a:rPr>
              <a:t>(</a:t>
            </a:r>
            <a:r>
              <a:rPr lang="ko-KR" altLang="en-US" sz="900" dirty="0">
                <a:latin typeface="+mn-ea"/>
                <a:cs typeface="Arial" pitchFamily="34" charset="0"/>
              </a:rPr>
              <a:t>당일 등록된 품번만 전송</a:t>
            </a:r>
            <a:r>
              <a:rPr lang="en-US" altLang="ko-KR" sz="900" dirty="0">
                <a:latin typeface="+mn-ea"/>
                <a:cs typeface="Arial" pitchFamily="34" charset="0"/>
              </a:rPr>
              <a:t>)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9D279F1-7D87-22D9-003F-E945C9E3941F}"/>
              </a:ext>
            </a:extLst>
          </p:cNvPr>
          <p:cNvSpPr/>
          <p:nvPr/>
        </p:nvSpPr>
        <p:spPr>
          <a:xfrm>
            <a:off x="2260641" y="3367798"/>
            <a:ext cx="815242" cy="370107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API I/F</a:t>
            </a:r>
          </a:p>
          <a:p>
            <a:pPr algn="ctr"/>
            <a:r>
              <a:rPr lang="en-US" altLang="ko-KR" sz="900" b="1" dirty="0"/>
              <a:t>(Batch</a:t>
            </a:r>
            <a:r>
              <a:rPr lang="ko-KR" altLang="en-US" sz="900" b="1" dirty="0"/>
              <a:t>주기</a:t>
            </a:r>
            <a:r>
              <a:rPr lang="en-US" altLang="ko-KR" sz="900" b="1" dirty="0"/>
              <a:t>)</a:t>
            </a:r>
            <a:endParaRPr lang="ko-KR" altLang="en-US" sz="900" b="1" dirty="0"/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5BEE362D-8B7A-0E9A-60BE-D68088C14508}"/>
              </a:ext>
            </a:extLst>
          </p:cNvPr>
          <p:cNvSpPr txBox="1"/>
          <p:nvPr/>
        </p:nvSpPr>
        <p:spPr>
          <a:xfrm>
            <a:off x="747559" y="3688831"/>
            <a:ext cx="664001" cy="211203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spAutoFit/>
          </a:bodyPr>
          <a:lstStyle/>
          <a:p>
            <a:pPr algn="ctr">
              <a:spcBef>
                <a:spcPts val="400"/>
              </a:spcBef>
            </a:pPr>
            <a:r>
              <a:rPr lang="en-US" altLang="ko-KR" sz="900" dirty="0">
                <a:latin typeface="+mn-ea"/>
                <a:cs typeface="Arial" pitchFamily="34" charset="0"/>
              </a:rPr>
              <a:t>ESL </a:t>
            </a:r>
            <a:r>
              <a:rPr lang="ko-KR" altLang="en-US" sz="900" dirty="0">
                <a:latin typeface="+mn-ea"/>
                <a:cs typeface="Arial" pitchFamily="34" charset="0"/>
              </a:rPr>
              <a:t>서버</a:t>
            </a:r>
            <a:endParaRPr lang="en-US" altLang="ko-KR" sz="900" dirty="0">
              <a:latin typeface="+mn-ea"/>
              <a:cs typeface="Arial" pitchFamily="34" charset="0"/>
            </a:endParaRPr>
          </a:p>
        </p:txBody>
      </p:sp>
      <p:cxnSp>
        <p:nvCxnSpPr>
          <p:cNvPr id="503" name="꺾인 연결선 245">
            <a:extLst>
              <a:ext uri="{FF2B5EF4-FFF2-40B4-BE49-F238E27FC236}">
                <a16:creationId xmlns:a16="http://schemas.microsoft.com/office/drawing/2014/main" id="{82E71B87-7FF9-7915-16A6-F212BBACE95A}"/>
              </a:ext>
            </a:extLst>
          </p:cNvPr>
          <p:cNvCxnSpPr>
            <a:cxnSpLocks/>
            <a:endCxn id="5" idx="0"/>
          </p:cNvCxnSpPr>
          <p:nvPr/>
        </p:nvCxnSpPr>
        <p:spPr>
          <a:xfrm rot="10800000" flipV="1">
            <a:off x="1089815" y="3068339"/>
            <a:ext cx="3089592" cy="284538"/>
          </a:xfrm>
          <a:prstGeom prst="bentConnector2">
            <a:avLst/>
          </a:prstGeom>
          <a:noFill/>
          <a:ln w="6350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9" name="AutoShape 952">
            <a:extLst>
              <a:ext uri="{FF2B5EF4-FFF2-40B4-BE49-F238E27FC236}">
                <a16:creationId xmlns:a16="http://schemas.microsoft.com/office/drawing/2014/main" id="{42E4D58B-837B-3E79-BF49-C4051ABE4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4362" y="1942307"/>
            <a:ext cx="1334241" cy="1193805"/>
          </a:xfrm>
          <a:prstGeom prst="roundRect">
            <a:avLst>
              <a:gd name="adj" fmla="val 2551"/>
            </a:avLst>
          </a:prstGeom>
          <a:noFill/>
          <a:ln w="9525">
            <a:solidFill>
              <a:srgbClr val="0070C0"/>
            </a:solidFill>
            <a:prstDash val="sysDash"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rIns="36000" anchor="t" anchorCtr="0"/>
          <a:lstStyle/>
          <a:p>
            <a:pPr lvl="0" latinLnBrk="0">
              <a:defRPr/>
            </a:pPr>
            <a:endParaRPr kumimoji="0" lang="en-US" altLang="ko-KR" sz="900" b="1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511" name="AutoShape 952">
            <a:extLst>
              <a:ext uri="{FF2B5EF4-FFF2-40B4-BE49-F238E27FC236}">
                <a16:creationId xmlns:a16="http://schemas.microsoft.com/office/drawing/2014/main" id="{136FF6EE-A416-A156-86E2-090AB613F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513" y="1954233"/>
            <a:ext cx="1334241" cy="1193805"/>
          </a:xfrm>
          <a:prstGeom prst="roundRect">
            <a:avLst>
              <a:gd name="adj" fmla="val 2551"/>
            </a:avLst>
          </a:prstGeom>
          <a:noFill/>
          <a:ln w="9525">
            <a:solidFill>
              <a:srgbClr val="0070C0"/>
            </a:solidFill>
            <a:prstDash val="sysDash"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rIns="36000" anchor="t" anchorCtr="0"/>
          <a:lstStyle/>
          <a:p>
            <a:pPr lvl="0" latinLnBrk="0">
              <a:defRPr/>
            </a:pPr>
            <a:endParaRPr kumimoji="0" lang="en-US" altLang="ko-KR" sz="900" b="1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F4602E-3D43-A393-3CD6-803BE7665AF1}"/>
              </a:ext>
            </a:extLst>
          </p:cNvPr>
          <p:cNvSpPr txBox="1"/>
          <p:nvPr/>
        </p:nvSpPr>
        <p:spPr>
          <a:xfrm>
            <a:off x="6949229" y="1976766"/>
            <a:ext cx="604505" cy="211203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spAutoFit/>
          </a:bodyPr>
          <a:lstStyle/>
          <a:p>
            <a:pPr algn="ctr">
              <a:spcBef>
                <a:spcPts val="400"/>
              </a:spcBef>
            </a:pPr>
            <a:r>
              <a:rPr lang="en-US" altLang="ko-KR" sz="900" dirty="0">
                <a:latin typeface="+mn-ea"/>
                <a:cs typeface="Arial" pitchFamily="34" charset="0"/>
              </a:rPr>
              <a:t>C </a:t>
            </a:r>
            <a:r>
              <a:rPr lang="ko-KR" altLang="en-US" sz="900" dirty="0">
                <a:latin typeface="+mn-ea"/>
                <a:cs typeface="Arial" pitchFamily="34" charset="0"/>
              </a:rPr>
              <a:t>구역</a:t>
            </a:r>
            <a:endParaRPr lang="en-US" altLang="ko-KR" sz="900" dirty="0">
              <a:latin typeface="+mn-ea"/>
              <a:cs typeface="Arial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683A71-5F19-99D4-BD4C-98042F90AC05}"/>
              </a:ext>
            </a:extLst>
          </p:cNvPr>
          <p:cNvSpPr txBox="1"/>
          <p:nvPr/>
        </p:nvSpPr>
        <p:spPr>
          <a:xfrm>
            <a:off x="8391380" y="1962965"/>
            <a:ext cx="604505" cy="211203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spAutoFit/>
          </a:bodyPr>
          <a:lstStyle/>
          <a:p>
            <a:pPr algn="ctr">
              <a:spcBef>
                <a:spcPts val="400"/>
              </a:spcBef>
            </a:pPr>
            <a:r>
              <a:rPr lang="en-US" altLang="ko-KR" sz="900" dirty="0">
                <a:latin typeface="+mn-ea"/>
                <a:cs typeface="Arial" pitchFamily="34" charset="0"/>
              </a:rPr>
              <a:t>D </a:t>
            </a:r>
            <a:r>
              <a:rPr lang="ko-KR" altLang="en-US" sz="900" dirty="0">
                <a:latin typeface="+mn-ea"/>
                <a:cs typeface="Arial" pitchFamily="34" charset="0"/>
              </a:rPr>
              <a:t>구역</a:t>
            </a:r>
            <a:endParaRPr lang="en-US" altLang="ko-KR" sz="900" dirty="0">
              <a:latin typeface="+mn-ea"/>
              <a:cs typeface="Arial" pitchFamily="34" charset="0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50D6A6BA-A0FB-20C1-656F-0300D5A7F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0831" y="2717611"/>
            <a:ext cx="408809" cy="385895"/>
          </a:xfrm>
          <a:prstGeom prst="rect">
            <a:avLst/>
          </a:prstGeom>
        </p:spPr>
      </p:pic>
      <p:cxnSp>
        <p:nvCxnSpPr>
          <p:cNvPr id="81" name="꺾인 연결선 245">
            <a:extLst>
              <a:ext uri="{FF2B5EF4-FFF2-40B4-BE49-F238E27FC236}">
                <a16:creationId xmlns:a16="http://schemas.microsoft.com/office/drawing/2014/main" id="{AD83C118-D7F2-6B46-7625-E470F738E699}"/>
              </a:ext>
            </a:extLst>
          </p:cNvPr>
          <p:cNvCxnSpPr>
            <a:cxnSpLocks/>
            <a:endCxn id="5" idx="0"/>
          </p:cNvCxnSpPr>
          <p:nvPr/>
        </p:nvCxnSpPr>
        <p:spPr>
          <a:xfrm rot="10800000" flipV="1">
            <a:off x="1089815" y="2920835"/>
            <a:ext cx="5941608" cy="432042"/>
          </a:xfrm>
          <a:prstGeom prst="bentConnector2">
            <a:avLst/>
          </a:prstGeom>
          <a:noFill/>
          <a:ln w="6350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꺾인 연결선 245">
            <a:extLst>
              <a:ext uri="{FF2B5EF4-FFF2-40B4-BE49-F238E27FC236}">
                <a16:creationId xmlns:a16="http://schemas.microsoft.com/office/drawing/2014/main" id="{F8BE5785-8318-66E6-5AD7-6C1D21CF12B9}"/>
              </a:ext>
            </a:extLst>
          </p:cNvPr>
          <p:cNvCxnSpPr>
            <a:cxnSpLocks/>
            <a:endCxn id="5" idx="0"/>
          </p:cNvCxnSpPr>
          <p:nvPr/>
        </p:nvCxnSpPr>
        <p:spPr>
          <a:xfrm rot="10800000" flipV="1">
            <a:off x="1089815" y="2761063"/>
            <a:ext cx="7460316" cy="591813"/>
          </a:xfrm>
          <a:prstGeom prst="bentConnector2">
            <a:avLst/>
          </a:prstGeom>
          <a:noFill/>
          <a:ln w="6350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1" name="꺾인 연결선 245">
            <a:extLst>
              <a:ext uri="{FF2B5EF4-FFF2-40B4-BE49-F238E27FC236}">
                <a16:creationId xmlns:a16="http://schemas.microsoft.com/office/drawing/2014/main" id="{512D7F7E-02EF-B8B9-7631-EAC835F63848}"/>
              </a:ext>
            </a:extLst>
          </p:cNvPr>
          <p:cNvCxnSpPr>
            <a:cxnSpLocks/>
            <a:endCxn id="5" idx="0"/>
          </p:cNvCxnSpPr>
          <p:nvPr/>
        </p:nvCxnSpPr>
        <p:spPr>
          <a:xfrm rot="10800000" flipV="1">
            <a:off x="1089816" y="2995333"/>
            <a:ext cx="4541131" cy="357544"/>
          </a:xfrm>
          <a:prstGeom prst="bentConnector2">
            <a:avLst/>
          </a:prstGeom>
          <a:noFill/>
          <a:ln w="6350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1" name="그림 70">
            <a:extLst>
              <a:ext uri="{FF2B5EF4-FFF2-40B4-BE49-F238E27FC236}">
                <a16:creationId xmlns:a16="http://schemas.microsoft.com/office/drawing/2014/main" id="{D552AC8D-238E-F8F4-65E5-846D1F309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123" y="2717612"/>
            <a:ext cx="408809" cy="385895"/>
          </a:xfrm>
          <a:prstGeom prst="rect">
            <a:avLst/>
          </a:prstGeom>
        </p:spPr>
      </p:pic>
      <p:pic>
        <p:nvPicPr>
          <p:cNvPr id="450" name="그림 449">
            <a:extLst>
              <a:ext uri="{FF2B5EF4-FFF2-40B4-BE49-F238E27FC236}">
                <a16:creationId xmlns:a16="http://schemas.microsoft.com/office/drawing/2014/main" id="{8E86D91C-E591-DB31-AC21-45927BD20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5047" y="2721414"/>
            <a:ext cx="408809" cy="385895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ACD972D6-8EEF-9025-9755-670B0B999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9407" y="2721414"/>
            <a:ext cx="408809" cy="385895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671F834C-A0E8-8D30-2750-8D23AF7220A7}"/>
              </a:ext>
            </a:extLst>
          </p:cNvPr>
          <p:cNvSpPr txBox="1"/>
          <p:nvPr/>
        </p:nvSpPr>
        <p:spPr>
          <a:xfrm>
            <a:off x="5792126" y="5198222"/>
            <a:ext cx="1269713" cy="211203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spAutoFit/>
          </a:bodyPr>
          <a:lstStyle/>
          <a:p>
            <a:pPr>
              <a:spcBef>
                <a:spcPts val="400"/>
              </a:spcBef>
            </a:pPr>
            <a:r>
              <a:rPr lang="en-US" altLang="ko-KR" sz="900" dirty="0">
                <a:latin typeface="+mn-ea"/>
                <a:cs typeface="Arial" pitchFamily="34" charset="0"/>
              </a:rPr>
              <a:t>ESL I/F </a:t>
            </a:r>
            <a:r>
              <a:rPr lang="ko-KR" altLang="en-US" sz="900" dirty="0">
                <a:latin typeface="+mn-ea"/>
                <a:cs typeface="Arial" pitchFamily="34" charset="0"/>
              </a:rPr>
              <a:t>이력 저장</a:t>
            </a:r>
            <a:endParaRPr lang="en-US" altLang="ko-KR" sz="900" dirty="0">
              <a:latin typeface="+mn-ea"/>
              <a:cs typeface="Arial" pitchFamily="34" charset="0"/>
            </a:endParaRPr>
          </a:p>
        </p:txBody>
      </p:sp>
      <p:sp>
        <p:nvSpPr>
          <p:cNvPr id="114" name="Rect 0">
            <a:extLst>
              <a:ext uri="{FF2B5EF4-FFF2-40B4-BE49-F238E27FC236}">
                <a16:creationId xmlns:a16="http://schemas.microsoft.com/office/drawing/2014/main" id="{484FF778-EF37-AB5D-64F0-01B5E18A369B}"/>
              </a:ext>
            </a:extLst>
          </p:cNvPr>
          <p:cNvSpPr txBox="1">
            <a:spLocks/>
          </p:cNvSpPr>
          <p:nvPr/>
        </p:nvSpPr>
        <p:spPr>
          <a:xfrm>
            <a:off x="274376" y="180298"/>
            <a:ext cx="7592604" cy="4921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lang="en-US" altLang="ko-KR" sz="3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2. To-be</a:t>
            </a:r>
            <a:r>
              <a:rPr lang="ko-KR" altLang="en-US" sz="3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3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Process </a:t>
            </a:r>
            <a:r>
              <a:rPr lang="en-US" altLang="ko-KR" sz="2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: ESL</a:t>
            </a:r>
            <a:r>
              <a:rPr lang="ko-KR" altLang="en-US" sz="2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 </a:t>
            </a:r>
            <a:r>
              <a:rPr lang="en-US" altLang="ko-KR" sz="2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I/F</a:t>
            </a:r>
            <a:endParaRPr lang="ko-KR" altLang="en-US" sz="2000" b="1" dirty="0">
              <a:ln w="9525" cap="flat" cmpd="sng">
                <a:solidFill>
                  <a:schemeClr val="accent1">
                    <a:alpha val="0"/>
                  </a:schemeClr>
                </a:solidFill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640C0B9-D5A0-F5FE-68D5-671856B1C7F7}"/>
              </a:ext>
            </a:extLst>
          </p:cNvPr>
          <p:cNvSpPr txBox="1"/>
          <p:nvPr/>
        </p:nvSpPr>
        <p:spPr>
          <a:xfrm>
            <a:off x="4315697" y="5000738"/>
            <a:ext cx="1260473" cy="349702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spAutoFit/>
          </a:bodyPr>
          <a:lstStyle/>
          <a:p>
            <a:pPr>
              <a:spcBef>
                <a:spcPts val="400"/>
              </a:spcBef>
            </a:pPr>
            <a:r>
              <a:rPr lang="en-US" altLang="ko-KR" sz="900" dirty="0">
                <a:latin typeface="+mn-ea"/>
                <a:cs typeface="Arial" pitchFamily="34" charset="0"/>
              </a:rPr>
              <a:t>I/F</a:t>
            </a:r>
            <a:r>
              <a:rPr lang="ko-KR" altLang="en-US" sz="900" dirty="0">
                <a:latin typeface="+mn-ea"/>
                <a:cs typeface="Arial" pitchFamily="34" charset="0"/>
              </a:rPr>
              <a:t>대상 </a:t>
            </a:r>
            <a:r>
              <a:rPr lang="en-US" altLang="ko-KR" sz="900" dirty="0">
                <a:latin typeface="+mn-ea"/>
                <a:cs typeface="Arial" pitchFamily="34" charset="0"/>
              </a:rPr>
              <a:t>: </a:t>
            </a:r>
            <a:r>
              <a:rPr lang="ko-KR" altLang="en-US" sz="900" dirty="0">
                <a:latin typeface="+mn-ea"/>
                <a:cs typeface="Arial" pitchFamily="34" charset="0"/>
              </a:rPr>
              <a:t>창고내 제품 재고정보 기준</a:t>
            </a:r>
            <a:r>
              <a:rPr lang="en-US" altLang="ko-KR" sz="900" dirty="0">
                <a:latin typeface="+mn-ea"/>
                <a:cs typeface="Arial" pitchFamily="34" charset="0"/>
              </a:rPr>
              <a:t> </a:t>
            </a: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DC2C4B4B-0AF7-5B76-3019-D7E06845C7E5}"/>
              </a:ext>
            </a:extLst>
          </p:cNvPr>
          <p:cNvGrpSpPr/>
          <p:nvPr/>
        </p:nvGrpSpPr>
        <p:grpSpPr>
          <a:xfrm>
            <a:off x="7085934" y="3709240"/>
            <a:ext cx="1005374" cy="591993"/>
            <a:chOff x="488505" y="1773530"/>
            <a:chExt cx="1088932" cy="576056"/>
          </a:xfrm>
        </p:grpSpPr>
        <p:sp>
          <p:nvSpPr>
            <p:cNvPr id="124" name="Rectangle 133">
              <a:extLst>
                <a:ext uri="{FF2B5EF4-FFF2-40B4-BE49-F238E27FC236}">
                  <a16:creationId xmlns:a16="http://schemas.microsoft.com/office/drawing/2014/main" id="{17B29673-7297-962F-ED43-B6A8DFE8B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505" y="1773530"/>
              <a:ext cx="1088932" cy="57605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ln w="6350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lIns="54000" tIns="90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r>
                <a:rPr lang="ko-KR" altLang="en-US" sz="900" b="1" kern="0" dirty="0">
                  <a:solidFill>
                    <a:srgbClr val="1F497D">
                      <a:lumMod val="50000"/>
                    </a:srgbClr>
                  </a:solidFill>
                  <a:latin typeface="+mj-ea"/>
                  <a:ea typeface="+mj-ea"/>
                  <a:cs typeface="Arial" charset="0"/>
                </a:rPr>
                <a:t>입고 등록</a:t>
              </a: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r>
                <a:rPr lang="en-US" altLang="ko-KR" sz="900" b="1" kern="0" dirty="0">
                  <a:solidFill>
                    <a:srgbClr val="1F497D">
                      <a:lumMod val="50000"/>
                    </a:srgbClr>
                  </a:solidFill>
                  <a:latin typeface="+mj-ea"/>
                  <a:ea typeface="+mj-ea"/>
                  <a:cs typeface="Arial" charset="0"/>
                </a:rPr>
                <a:t>(</a:t>
              </a:r>
              <a:r>
                <a:rPr lang="ko-KR" altLang="en-US" sz="900" b="1" kern="0" dirty="0">
                  <a:solidFill>
                    <a:srgbClr val="1F497D">
                      <a:lumMod val="50000"/>
                    </a:srgbClr>
                  </a:solidFill>
                  <a:latin typeface="+mj-ea"/>
                  <a:ea typeface="+mj-ea"/>
                  <a:cs typeface="Arial" charset="0"/>
                </a:rPr>
                <a:t>법인 입고</a:t>
              </a:r>
              <a:r>
                <a:rPr lang="en-US" altLang="ko-KR" sz="900" b="1" kern="0" dirty="0">
                  <a:solidFill>
                    <a:srgbClr val="1F497D">
                      <a:lumMod val="50000"/>
                    </a:srgbClr>
                  </a:solidFill>
                  <a:latin typeface="+mj-ea"/>
                  <a:ea typeface="+mj-ea"/>
                  <a:cs typeface="Arial" charset="0"/>
                </a:rPr>
                <a:t>)</a:t>
              </a:r>
            </a:p>
          </p:txBody>
        </p:sp>
        <p:sp>
          <p:nvSpPr>
            <p:cNvPr id="516" name="Rectangle 134">
              <a:extLst>
                <a:ext uri="{FF2B5EF4-FFF2-40B4-BE49-F238E27FC236}">
                  <a16:creationId xmlns:a16="http://schemas.microsoft.com/office/drawing/2014/main" id="{3A73D9D3-94D2-7D22-9656-D1BE79DB8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481" y="1797162"/>
              <a:ext cx="753191" cy="141738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66"/>
                    </a:outerShdw>
                  </a:effectLst>
                </a14:hiddenEffects>
              </a:ext>
            </a:extLst>
          </p:spPr>
          <p:txBody>
            <a:bodyPr lIns="54000" tIns="18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  <a:defRPr/>
              </a:pPr>
              <a:r>
                <a:rPr lang="ko-KR" altLang="en-US" sz="900" kern="0" dirty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물류창고</a:t>
              </a:r>
              <a:endParaRPr lang="en-US" altLang="ko-KR" sz="900" kern="0" dirty="0">
                <a:solidFill>
                  <a:srgbClr val="000000"/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517" name="Rectangle 164">
              <a:extLst>
                <a:ext uri="{FF2B5EF4-FFF2-40B4-BE49-F238E27FC236}">
                  <a16:creationId xmlns:a16="http://schemas.microsoft.com/office/drawing/2014/main" id="{18B94334-8046-66BF-DB5C-2A5507520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00" y="1797162"/>
              <a:ext cx="285069" cy="14173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lIns="36000" rIns="36000" anchor="ctr" anchorCtr="1"/>
            <a:lstStyle/>
            <a:p>
              <a:pPr marL="88900" indent="-88900" latinLnBrk="0">
                <a:spcBef>
                  <a:spcPct val="50000"/>
                </a:spcBef>
                <a:buClr>
                  <a:srgbClr val="006699"/>
                </a:buClr>
                <a:defRPr/>
              </a:pPr>
              <a:r>
                <a:rPr lang="en-US" altLang="ko-KR" sz="800" b="1" kern="0" dirty="0">
                  <a:solidFill>
                    <a:prstClr val="white"/>
                  </a:solidFill>
                  <a:latin typeface="+mj-ea"/>
                  <a:ea typeface="+mj-ea"/>
                  <a:cs typeface="Arial" charset="0"/>
                </a:rPr>
                <a:t>1.3</a:t>
              </a:r>
            </a:p>
          </p:txBody>
        </p:sp>
      </p:grpSp>
      <p:grpSp>
        <p:nvGrpSpPr>
          <p:cNvPr id="518" name="그룹 517">
            <a:extLst>
              <a:ext uri="{FF2B5EF4-FFF2-40B4-BE49-F238E27FC236}">
                <a16:creationId xmlns:a16="http://schemas.microsoft.com/office/drawing/2014/main" id="{242F13E2-18CB-75EF-00A3-D6AFC6C7FD39}"/>
              </a:ext>
            </a:extLst>
          </p:cNvPr>
          <p:cNvGrpSpPr/>
          <p:nvPr/>
        </p:nvGrpSpPr>
        <p:grpSpPr>
          <a:xfrm>
            <a:off x="8324538" y="3709931"/>
            <a:ext cx="1005374" cy="591993"/>
            <a:chOff x="488505" y="1773530"/>
            <a:chExt cx="1088932" cy="576056"/>
          </a:xfrm>
        </p:grpSpPr>
        <p:sp>
          <p:nvSpPr>
            <p:cNvPr id="519" name="Rectangle 133">
              <a:extLst>
                <a:ext uri="{FF2B5EF4-FFF2-40B4-BE49-F238E27FC236}">
                  <a16:creationId xmlns:a16="http://schemas.microsoft.com/office/drawing/2014/main" id="{AFCAE7B1-BC2B-575A-CDE2-3C54710D8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505" y="1773530"/>
              <a:ext cx="1088932" cy="57605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ln w="6350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lIns="54000" tIns="90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r>
                <a:rPr lang="ko-KR" altLang="en-US" sz="900" b="1" kern="0" dirty="0">
                  <a:solidFill>
                    <a:srgbClr val="1F497D">
                      <a:lumMod val="50000"/>
                    </a:srgbClr>
                  </a:solidFill>
                  <a:latin typeface="+mj-ea"/>
                  <a:ea typeface="+mj-ea"/>
                  <a:cs typeface="Arial" charset="0"/>
                </a:rPr>
                <a:t>출고 등록</a:t>
              </a: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520" name="Rectangle 134">
              <a:extLst>
                <a:ext uri="{FF2B5EF4-FFF2-40B4-BE49-F238E27FC236}">
                  <a16:creationId xmlns:a16="http://schemas.microsoft.com/office/drawing/2014/main" id="{5132BD5E-69D1-9127-C5B9-DDD893CD0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481" y="1797162"/>
              <a:ext cx="753191" cy="141738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66"/>
                    </a:outerShdw>
                  </a:effectLst>
                </a14:hiddenEffects>
              </a:ext>
            </a:extLst>
          </p:spPr>
          <p:txBody>
            <a:bodyPr lIns="54000" tIns="18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  <a:defRPr/>
              </a:pPr>
              <a:r>
                <a:rPr lang="ko-KR" altLang="en-US" sz="900" kern="0" dirty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물류창고</a:t>
              </a:r>
              <a:endParaRPr lang="en-US" altLang="ko-KR" sz="900" kern="0" dirty="0">
                <a:solidFill>
                  <a:srgbClr val="000000"/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522" name="Rectangle 164">
              <a:extLst>
                <a:ext uri="{FF2B5EF4-FFF2-40B4-BE49-F238E27FC236}">
                  <a16:creationId xmlns:a16="http://schemas.microsoft.com/office/drawing/2014/main" id="{C068EE9D-CFFB-2325-A0A2-5B4A97422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00" y="1797162"/>
              <a:ext cx="285069" cy="14173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lIns="36000" rIns="36000" anchor="ctr" anchorCtr="1"/>
            <a:lstStyle/>
            <a:p>
              <a:pPr marL="88900" indent="-88900" latinLnBrk="0">
                <a:spcBef>
                  <a:spcPct val="50000"/>
                </a:spcBef>
                <a:buClr>
                  <a:srgbClr val="006699"/>
                </a:buClr>
                <a:defRPr/>
              </a:pPr>
              <a:r>
                <a:rPr lang="en-US" altLang="ko-KR" sz="800" b="1" kern="0" dirty="0">
                  <a:solidFill>
                    <a:prstClr val="white"/>
                  </a:solidFill>
                  <a:latin typeface="+mj-ea"/>
                  <a:ea typeface="+mj-ea"/>
                  <a:cs typeface="Arial" charset="0"/>
                </a:rPr>
                <a:t>1.4</a:t>
              </a:r>
            </a:p>
          </p:txBody>
        </p:sp>
      </p:grpSp>
      <p:cxnSp>
        <p:nvCxnSpPr>
          <p:cNvPr id="525" name="꺾인 연결선 245">
            <a:extLst>
              <a:ext uri="{FF2B5EF4-FFF2-40B4-BE49-F238E27FC236}">
                <a16:creationId xmlns:a16="http://schemas.microsoft.com/office/drawing/2014/main" id="{024780A3-9651-4759-7066-413904B6E2BF}"/>
              </a:ext>
            </a:extLst>
          </p:cNvPr>
          <p:cNvCxnSpPr>
            <a:cxnSpLocks/>
            <a:stCxn id="124" idx="2"/>
            <a:endCxn id="10" idx="0"/>
          </p:cNvCxnSpPr>
          <p:nvPr/>
        </p:nvCxnSpPr>
        <p:spPr>
          <a:xfrm rot="5400000">
            <a:off x="6024084" y="3072160"/>
            <a:ext cx="335465" cy="2793610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round/>
            <a:headEnd/>
            <a:tailEnd type="triangl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8" name="꺾인 연결선 245">
            <a:extLst>
              <a:ext uri="{FF2B5EF4-FFF2-40B4-BE49-F238E27FC236}">
                <a16:creationId xmlns:a16="http://schemas.microsoft.com/office/drawing/2014/main" id="{7E96CB4A-B684-9E9C-BE20-C27720FEB321}"/>
              </a:ext>
            </a:extLst>
          </p:cNvPr>
          <p:cNvCxnSpPr>
            <a:cxnSpLocks/>
            <a:stCxn id="519" idx="2"/>
            <a:endCxn id="10" idx="0"/>
          </p:cNvCxnSpPr>
          <p:nvPr/>
        </p:nvCxnSpPr>
        <p:spPr>
          <a:xfrm rot="5400000">
            <a:off x="6643731" y="2453204"/>
            <a:ext cx="334774" cy="4032214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  <a:round/>
            <a:headEnd/>
            <a:tailEnd type="triangl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52" name="그룹 551">
            <a:extLst>
              <a:ext uri="{FF2B5EF4-FFF2-40B4-BE49-F238E27FC236}">
                <a16:creationId xmlns:a16="http://schemas.microsoft.com/office/drawing/2014/main" id="{49D59CCB-27D3-2CB4-9702-54C178246D9F}"/>
              </a:ext>
            </a:extLst>
          </p:cNvPr>
          <p:cNvGrpSpPr/>
          <p:nvPr/>
        </p:nvGrpSpPr>
        <p:grpSpPr>
          <a:xfrm>
            <a:off x="2897343" y="3830317"/>
            <a:ext cx="415498" cy="312259"/>
            <a:chOff x="6376941" y="5722781"/>
            <a:chExt cx="415498" cy="312259"/>
          </a:xfrm>
        </p:grpSpPr>
        <p:sp>
          <p:nvSpPr>
            <p:cNvPr id="550" name="십각형 549">
              <a:extLst>
                <a:ext uri="{FF2B5EF4-FFF2-40B4-BE49-F238E27FC236}">
                  <a16:creationId xmlns:a16="http://schemas.microsoft.com/office/drawing/2014/main" id="{593D9BE5-85BC-35DD-5624-190D44BF6BA1}"/>
                </a:ext>
              </a:extLst>
            </p:cNvPr>
            <p:cNvSpPr/>
            <p:nvPr/>
          </p:nvSpPr>
          <p:spPr>
            <a:xfrm>
              <a:off x="6411052" y="5722781"/>
              <a:ext cx="338091" cy="312259"/>
            </a:xfrm>
            <a:prstGeom prst="decagon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b="1">
                <a:solidFill>
                  <a:schemeClr val="tx1"/>
                </a:solidFill>
              </a:endParaRP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DA34DC68-94D3-B2DB-170B-F1A7FD69C0C3}"/>
                </a:ext>
              </a:extLst>
            </p:cNvPr>
            <p:cNvSpPr txBox="1"/>
            <p:nvPr/>
          </p:nvSpPr>
          <p:spPr>
            <a:xfrm>
              <a:off x="6376941" y="576450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개발</a:t>
              </a:r>
            </a:p>
          </p:txBody>
        </p:sp>
      </p:grpSp>
      <p:grpSp>
        <p:nvGrpSpPr>
          <p:cNvPr id="553" name="그룹 552">
            <a:extLst>
              <a:ext uri="{FF2B5EF4-FFF2-40B4-BE49-F238E27FC236}">
                <a16:creationId xmlns:a16="http://schemas.microsoft.com/office/drawing/2014/main" id="{BF3AF75D-D683-6012-4D1C-CDFF7379B942}"/>
              </a:ext>
            </a:extLst>
          </p:cNvPr>
          <p:cNvGrpSpPr/>
          <p:nvPr/>
        </p:nvGrpSpPr>
        <p:grpSpPr>
          <a:xfrm>
            <a:off x="2315525" y="5000738"/>
            <a:ext cx="415498" cy="312259"/>
            <a:chOff x="6376941" y="5722781"/>
            <a:chExt cx="415498" cy="312259"/>
          </a:xfrm>
        </p:grpSpPr>
        <p:sp>
          <p:nvSpPr>
            <p:cNvPr id="554" name="십각형 553">
              <a:extLst>
                <a:ext uri="{FF2B5EF4-FFF2-40B4-BE49-F238E27FC236}">
                  <a16:creationId xmlns:a16="http://schemas.microsoft.com/office/drawing/2014/main" id="{4AEBF689-AD78-8FC8-0B87-549DB555F3E0}"/>
                </a:ext>
              </a:extLst>
            </p:cNvPr>
            <p:cNvSpPr/>
            <p:nvPr/>
          </p:nvSpPr>
          <p:spPr>
            <a:xfrm>
              <a:off x="6411052" y="5722781"/>
              <a:ext cx="338091" cy="312259"/>
            </a:xfrm>
            <a:prstGeom prst="decagon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b="1">
                <a:solidFill>
                  <a:schemeClr val="tx1"/>
                </a:solidFill>
              </a:endParaRP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0EB31E20-6A33-3526-294B-0878A082C7A5}"/>
                </a:ext>
              </a:extLst>
            </p:cNvPr>
            <p:cNvSpPr txBox="1"/>
            <p:nvPr/>
          </p:nvSpPr>
          <p:spPr>
            <a:xfrm>
              <a:off x="6376941" y="576450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개발</a:t>
              </a:r>
            </a:p>
          </p:txBody>
        </p:sp>
      </p:grpSp>
      <p:grpSp>
        <p:nvGrpSpPr>
          <p:cNvPr id="557" name="그룹 556">
            <a:extLst>
              <a:ext uri="{FF2B5EF4-FFF2-40B4-BE49-F238E27FC236}">
                <a16:creationId xmlns:a16="http://schemas.microsoft.com/office/drawing/2014/main" id="{7C574EB2-CF08-247C-29E8-97EA5985CAB5}"/>
              </a:ext>
            </a:extLst>
          </p:cNvPr>
          <p:cNvGrpSpPr/>
          <p:nvPr/>
        </p:nvGrpSpPr>
        <p:grpSpPr>
          <a:xfrm>
            <a:off x="6646341" y="4094023"/>
            <a:ext cx="415498" cy="312259"/>
            <a:chOff x="6376941" y="5722781"/>
            <a:chExt cx="415498" cy="312259"/>
          </a:xfrm>
        </p:grpSpPr>
        <p:sp>
          <p:nvSpPr>
            <p:cNvPr id="558" name="십각형 557">
              <a:extLst>
                <a:ext uri="{FF2B5EF4-FFF2-40B4-BE49-F238E27FC236}">
                  <a16:creationId xmlns:a16="http://schemas.microsoft.com/office/drawing/2014/main" id="{76DE1AA2-36DF-4751-E510-FD3992F8B9AB}"/>
                </a:ext>
              </a:extLst>
            </p:cNvPr>
            <p:cNvSpPr/>
            <p:nvPr/>
          </p:nvSpPr>
          <p:spPr>
            <a:xfrm>
              <a:off x="6411052" y="5722781"/>
              <a:ext cx="338091" cy="312259"/>
            </a:xfrm>
            <a:prstGeom prst="decagon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b="1">
                <a:solidFill>
                  <a:schemeClr val="tx1"/>
                </a:solidFill>
              </a:endParaRP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53B7D8F0-6401-596A-FA7A-99CE7E0AB568}"/>
                </a:ext>
              </a:extLst>
            </p:cNvPr>
            <p:cNvSpPr txBox="1"/>
            <p:nvPr/>
          </p:nvSpPr>
          <p:spPr>
            <a:xfrm>
              <a:off x="6376941" y="576450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개발</a:t>
              </a:r>
            </a:p>
          </p:txBody>
        </p:sp>
      </p:grpSp>
      <p:grpSp>
        <p:nvGrpSpPr>
          <p:cNvPr id="560" name="그룹 559">
            <a:extLst>
              <a:ext uri="{FF2B5EF4-FFF2-40B4-BE49-F238E27FC236}">
                <a16:creationId xmlns:a16="http://schemas.microsoft.com/office/drawing/2014/main" id="{A66D8106-9B49-0109-688B-1E758EA99D41}"/>
              </a:ext>
            </a:extLst>
          </p:cNvPr>
          <p:cNvGrpSpPr/>
          <p:nvPr/>
        </p:nvGrpSpPr>
        <p:grpSpPr>
          <a:xfrm>
            <a:off x="6533165" y="4914559"/>
            <a:ext cx="415498" cy="312259"/>
            <a:chOff x="6376941" y="5722781"/>
            <a:chExt cx="415498" cy="312259"/>
          </a:xfrm>
        </p:grpSpPr>
        <p:sp>
          <p:nvSpPr>
            <p:cNvPr id="561" name="십각형 560">
              <a:extLst>
                <a:ext uri="{FF2B5EF4-FFF2-40B4-BE49-F238E27FC236}">
                  <a16:creationId xmlns:a16="http://schemas.microsoft.com/office/drawing/2014/main" id="{06699B30-898D-9451-7AA8-616626469CAC}"/>
                </a:ext>
              </a:extLst>
            </p:cNvPr>
            <p:cNvSpPr/>
            <p:nvPr/>
          </p:nvSpPr>
          <p:spPr>
            <a:xfrm>
              <a:off x="6411052" y="5722781"/>
              <a:ext cx="338091" cy="312259"/>
            </a:xfrm>
            <a:prstGeom prst="decagon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b="1">
                <a:solidFill>
                  <a:schemeClr val="tx1"/>
                </a:solidFill>
              </a:endParaRP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4257019E-68C3-9106-4277-47909E301672}"/>
                </a:ext>
              </a:extLst>
            </p:cNvPr>
            <p:cNvSpPr txBox="1"/>
            <p:nvPr/>
          </p:nvSpPr>
          <p:spPr>
            <a:xfrm>
              <a:off x="6376941" y="576450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개발</a:t>
              </a:r>
            </a:p>
          </p:txBody>
        </p:sp>
      </p:grpSp>
      <p:grpSp>
        <p:nvGrpSpPr>
          <p:cNvPr id="566" name="그룹 565">
            <a:extLst>
              <a:ext uri="{FF2B5EF4-FFF2-40B4-BE49-F238E27FC236}">
                <a16:creationId xmlns:a16="http://schemas.microsoft.com/office/drawing/2014/main" id="{4885BCA0-AC8A-31CA-2374-B3D7B27BCA67}"/>
              </a:ext>
            </a:extLst>
          </p:cNvPr>
          <p:cNvGrpSpPr/>
          <p:nvPr/>
        </p:nvGrpSpPr>
        <p:grpSpPr>
          <a:xfrm>
            <a:off x="4523842" y="3705138"/>
            <a:ext cx="1005374" cy="591993"/>
            <a:chOff x="488505" y="1773530"/>
            <a:chExt cx="1088932" cy="576056"/>
          </a:xfrm>
        </p:grpSpPr>
        <p:sp>
          <p:nvSpPr>
            <p:cNvPr id="567" name="Rectangle 133">
              <a:extLst>
                <a:ext uri="{FF2B5EF4-FFF2-40B4-BE49-F238E27FC236}">
                  <a16:creationId xmlns:a16="http://schemas.microsoft.com/office/drawing/2014/main" id="{E5DBFF0C-2926-6087-B45A-B5BEEF331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505" y="1773530"/>
              <a:ext cx="1088932" cy="57605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ln w="6350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lIns="54000" tIns="90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  <a:p>
              <a:pPr algn="ctr" latinLnBrk="0">
                <a:lnSpc>
                  <a:spcPct val="90000"/>
                </a:lnSpc>
                <a:spcBef>
                  <a:spcPct val="0"/>
                </a:spcBef>
              </a:pPr>
              <a:r>
                <a:rPr lang="ko-KR" altLang="en-US" sz="900" b="1" kern="0" dirty="0">
                  <a:solidFill>
                    <a:srgbClr val="1F497D">
                      <a:lumMod val="50000"/>
                    </a:srgbClr>
                  </a:solidFill>
                  <a:latin typeface="+mj-ea"/>
                  <a:ea typeface="+mj-ea"/>
                  <a:cs typeface="Arial" charset="0"/>
                </a:rPr>
                <a:t>구역 기준정보 등록</a:t>
              </a:r>
              <a:endParaRPr lang="en-US" altLang="ko-KR" sz="900" b="1" kern="0" dirty="0">
                <a:solidFill>
                  <a:srgbClr val="1F497D">
                    <a:lumMod val="50000"/>
                  </a:srgbClr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568" name="Rectangle 134">
              <a:extLst>
                <a:ext uri="{FF2B5EF4-FFF2-40B4-BE49-F238E27FC236}">
                  <a16:creationId xmlns:a16="http://schemas.microsoft.com/office/drawing/2014/main" id="{262CC664-18F7-1145-6F50-FFB2A6D94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481" y="1797162"/>
              <a:ext cx="753191" cy="141738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66"/>
                    </a:outerShdw>
                  </a:effectLst>
                </a14:hiddenEffects>
              </a:ext>
            </a:extLst>
          </p:spPr>
          <p:txBody>
            <a:bodyPr lIns="54000" tIns="18000" rIns="54000" bIns="18000" anchor="ctr"/>
            <a:lstStyle/>
            <a:p>
              <a:pPr algn="ctr" latinLnBrk="0">
                <a:lnSpc>
                  <a:spcPct val="90000"/>
                </a:lnSpc>
                <a:spcBef>
                  <a:spcPct val="0"/>
                </a:spcBef>
                <a:defRPr/>
              </a:pPr>
              <a:r>
                <a:rPr lang="ko-KR" altLang="en-US" sz="900" kern="0" dirty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물류창고</a:t>
              </a:r>
              <a:endParaRPr lang="en-US" altLang="ko-KR" sz="900" kern="0" dirty="0">
                <a:solidFill>
                  <a:srgbClr val="000000"/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569" name="Rectangle 164">
              <a:extLst>
                <a:ext uri="{FF2B5EF4-FFF2-40B4-BE49-F238E27FC236}">
                  <a16:creationId xmlns:a16="http://schemas.microsoft.com/office/drawing/2014/main" id="{B52C664C-55FF-BF38-BD0C-F99041238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600" y="1797162"/>
              <a:ext cx="285069" cy="14173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lIns="36000" rIns="36000" anchor="ctr" anchorCtr="1"/>
            <a:lstStyle/>
            <a:p>
              <a:pPr marL="88900" indent="-88900" latinLnBrk="0">
                <a:spcBef>
                  <a:spcPct val="50000"/>
                </a:spcBef>
                <a:buClr>
                  <a:srgbClr val="006699"/>
                </a:buClr>
                <a:defRPr/>
              </a:pPr>
              <a:r>
                <a:rPr lang="en-US" altLang="ko-KR" sz="800" b="1" kern="0" dirty="0">
                  <a:solidFill>
                    <a:prstClr val="white"/>
                  </a:solidFill>
                  <a:latin typeface="+mj-ea"/>
                  <a:ea typeface="+mj-ea"/>
                  <a:cs typeface="Arial" charset="0"/>
                </a:rPr>
                <a:t>1.1</a:t>
              </a:r>
            </a:p>
          </p:txBody>
        </p:sp>
      </p:grpSp>
      <p:grpSp>
        <p:nvGrpSpPr>
          <p:cNvPr id="570" name="그룹 569">
            <a:extLst>
              <a:ext uri="{FF2B5EF4-FFF2-40B4-BE49-F238E27FC236}">
                <a16:creationId xmlns:a16="http://schemas.microsoft.com/office/drawing/2014/main" id="{8745E390-EF11-F805-D0CA-7DAD90FFB1C9}"/>
              </a:ext>
            </a:extLst>
          </p:cNvPr>
          <p:cNvGrpSpPr/>
          <p:nvPr/>
        </p:nvGrpSpPr>
        <p:grpSpPr>
          <a:xfrm>
            <a:off x="5318122" y="4096524"/>
            <a:ext cx="415498" cy="312259"/>
            <a:chOff x="6376941" y="5722781"/>
            <a:chExt cx="415498" cy="312259"/>
          </a:xfrm>
        </p:grpSpPr>
        <p:sp>
          <p:nvSpPr>
            <p:cNvPr id="571" name="십각형 570">
              <a:extLst>
                <a:ext uri="{FF2B5EF4-FFF2-40B4-BE49-F238E27FC236}">
                  <a16:creationId xmlns:a16="http://schemas.microsoft.com/office/drawing/2014/main" id="{2AC9905C-B5E3-E1FF-4056-87CE778FF27E}"/>
                </a:ext>
              </a:extLst>
            </p:cNvPr>
            <p:cNvSpPr/>
            <p:nvPr/>
          </p:nvSpPr>
          <p:spPr>
            <a:xfrm>
              <a:off x="6411052" y="5722781"/>
              <a:ext cx="338091" cy="312259"/>
            </a:xfrm>
            <a:prstGeom prst="decagon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b="1">
                <a:solidFill>
                  <a:schemeClr val="tx1"/>
                </a:solidFill>
              </a:endParaRPr>
            </a:p>
          </p:txBody>
        </p:sp>
        <p:sp>
          <p:nvSpPr>
            <p:cNvPr id="572" name="TextBox 571">
              <a:extLst>
                <a:ext uri="{FF2B5EF4-FFF2-40B4-BE49-F238E27FC236}">
                  <a16:creationId xmlns:a16="http://schemas.microsoft.com/office/drawing/2014/main" id="{435AC34C-467D-A382-B4B1-040B3F01AB69}"/>
                </a:ext>
              </a:extLst>
            </p:cNvPr>
            <p:cNvSpPr txBox="1"/>
            <p:nvPr/>
          </p:nvSpPr>
          <p:spPr>
            <a:xfrm>
              <a:off x="6376941" y="576450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개발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7298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 0"/>
          <p:cNvSpPr txBox="1">
            <a:spLocks/>
          </p:cNvSpPr>
          <p:nvPr/>
        </p:nvSpPr>
        <p:spPr>
          <a:xfrm>
            <a:off x="427990" y="320040"/>
            <a:ext cx="5169535" cy="49212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/>
          <a:p>
            <a:pPr marL="0" indent="0" algn="l" defTabSz="914400" rtl="0" eaLnBrk="1" latinLnBrk="0" hangingPunct="1">
              <a:buFontTx/>
              <a:buNone/>
            </a:pPr>
            <a:r>
              <a:rPr lang="en-US" altLang="ko-KR" sz="3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charset="0"/>
                <a:ea typeface="맑은 고딕" charset="0"/>
              </a:rPr>
              <a:t>Q&amp;A</a:t>
            </a:r>
            <a:endParaRPr lang="ko-KR" altLang="en-US" sz="3000" b="1" dirty="0">
              <a:ln w="9525" cap="flat" cmpd="sng">
                <a:solidFill>
                  <a:schemeClr val="accent1">
                    <a:alpha val="0"/>
                  </a:schemeClr>
                </a:solidFill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3" name="Picture 3" descr="Q&amp;A">
            <a:extLst>
              <a:ext uri="{FF2B5EF4-FFF2-40B4-BE49-F238E27FC236}">
                <a16:creationId xmlns:a16="http://schemas.microsoft.com/office/drawing/2014/main" id="{6953CC61-3764-7004-05DE-EEDCEE653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02744" y="2342512"/>
            <a:ext cx="3657600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5724" dir="2700000" algn="ctr" rotWithShape="0">
              <a:srgbClr val="EAEAEA"/>
            </a:outerShdw>
          </a:effectLst>
        </p:spPr>
      </p:pic>
    </p:spTree>
    <p:extLst>
      <p:ext uri="{BB962C8B-B14F-4D97-AF65-F5344CB8AC3E}">
        <p14:creationId xmlns:p14="http://schemas.microsoft.com/office/powerpoint/2010/main" val="2497418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22326</TotalTime>
  <Pages>24</Pages>
  <Words>390</Words>
  <Characters>0</Characters>
  <Application>Microsoft Office PowerPoint</Application>
  <DocSecurity>0</DocSecurity>
  <PresentationFormat>A4 용지(210x297mm)</PresentationFormat>
  <Lines>0</Lines>
  <Paragraphs>143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24주년 공용 템플릿</dc:title>
  <dc:creator>LDCC KANGHJ</dc:creator>
  <cp:lastModifiedBy>형진 박</cp:lastModifiedBy>
  <cp:revision>192</cp:revision>
  <dcterms:modified xsi:type="dcterms:W3CDTF">2026-10-22T02:29:54Z</dcterms:modified>
  <cp:version>9.104.195.51339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eyJub2RlMSI6eyJkc2QiOiIwMTAwMDAwMDAwMDAyMTEyIiwibG9nVGltZSI6IjIwMjItMTItMjhUMDE6MTM6NTFaIiwicElEIjoxLCJ0cmFjZUlkIjoiNzBFQ0FFNTZFOTk4NDA3MkI1MzQwRDczMDcxMURDOEIiLCJ1c2VyQ29kZSI6ImR5LmtpbSJ9LCJub2RlMiI6eyJkc2QiOiIwMTAwMDAwMDAwMDAyMTEyIiwibG9nVGltZSI6IjIwMjI</vt:lpwstr>
  </property>
</Properties>
</file>